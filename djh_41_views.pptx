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645920"/>
            <a:ext cx="4389120" cy="4389120"/>
          </a:xfrm>
          <a:prstGeom prst="ellipse">
            <a:avLst/>
          </a:prstGeom>
          <a:solidFill>
            <a:srgbClr val="0E3D48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926080" cy="2926080"/>
          </a:xfrm>
          <a:prstGeom prst="ellipse">
            <a:avLst/>
          </a:prstGeom>
          <a:solidFill>
            <a:srgbClr val="0A35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公众号「眼科医生杜军辉」·  观点整理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杜军辉 41 个近视观点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CFE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分类总结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BFC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杜军辉  医学博士 · 硕士生导师 · 苏州市眼视光医院近视防控研究中心主任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A0A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原文发表：2025.08.04   |   整理日期：2026.09.02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BBFC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十大主题 · 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819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527048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核心理论框架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187452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TOP三板斧、STOP君臣佐使、离焦密码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3008" y="1417320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42736" y="158191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11" name="Text 9"/>
          <p:cNvSpPr/>
          <p:nvPr/>
        </p:nvSpPr>
        <p:spPr>
          <a:xfrm>
            <a:off x="6342736" y="1581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2816" y="1527048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"望远"——最核心的行为干预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82816" y="1874520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望远为王、睡前望远、反对20-20-20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86584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5511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551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2496312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离焦理论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98448" y="2843784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离焦=眼轴指挥棒、中心微量前离焦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3008" y="2386584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42736" y="25511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21" name="Text 19"/>
          <p:cNvSpPr/>
          <p:nvPr/>
        </p:nvSpPr>
        <p:spPr>
          <a:xfrm>
            <a:off x="6342736" y="2551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82816" y="2496312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眼轴回退机制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82816" y="2843784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三大机制：脉络膜增厚、眼球形变、巩膜重塑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355848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520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8448" y="3465576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眼镜与配镜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98448" y="3813048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光学药物、过矫欠矫足矫、散光新解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33008" y="3355848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42736" y="3520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31" name="Text 29"/>
          <p:cNvSpPr/>
          <p:nvPr/>
        </p:nvSpPr>
        <p:spPr>
          <a:xfrm>
            <a:off x="6342736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82816" y="3465576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哺光仪（650nm 红光）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82816" y="3813048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核武器、高度近视首选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325112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" y="44897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98448" y="4434840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视功能与调节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98448" y="4782312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正镜推远法、辨病辨证、攻邪扶正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3008" y="4325112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42736" y="44897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41" name="Text 39"/>
          <p:cNvSpPr/>
          <p:nvPr/>
        </p:nvSpPr>
        <p:spPr>
          <a:xfrm>
            <a:off x="6342736" y="4489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82816" y="4434840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进化/演化视角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82816" y="4782312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偷懒理论、代偿机制、差眼偷懒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5294376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8368" y="54589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98448" y="5404104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拉远设备的使用与风险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298448" y="5751576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未来主流、三大风险、正视化双刃剑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33008" y="5294376"/>
            <a:ext cx="5410048" cy="841248"/>
          </a:xfrm>
          <a:prstGeom prst="roundRect">
            <a:avLst>
              <a:gd name="adj" fmla="val 869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42736" y="54589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67E8A"/>
          </a:solidFill>
          <a:ln/>
        </p:spPr>
      </p:sp>
      <p:sp>
        <p:nvSpPr>
          <p:cNvPr id="51" name="Text 49"/>
          <p:cNvSpPr/>
          <p:nvPr/>
        </p:nvSpPr>
        <p:spPr>
          <a:xfrm>
            <a:off x="6342736" y="5458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82816" y="5404104"/>
            <a:ext cx="44956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阿托品重要提醒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982816" y="5751576"/>
            <a:ext cx="449564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调节不足慎用——领先专家共识3年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核心理论框架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 三板斧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49528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视功能（Training）+ 离焦（Optics）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+ 望远（Panorama）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三者层层递进、协同发力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5888" y="15544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41588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5968" y="153619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STOP 君臣佐使体系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1608" y="2148840"/>
            <a:ext cx="49528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望远为君、离焦为臣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视训为佐、管理/坚持为使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体现中医"方剂"配伍思维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D4960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86791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调节→离焦→眼轴→近视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480560"/>
            <a:ext cx="49528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调节是起点，巩膜是终点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完全掌控起点，就能掌控结局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掌控调节→掌控离焦→掌控眼轴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3008" y="3703320"/>
            <a:ext cx="5410048" cy="2148840"/>
          </a:xfrm>
          <a:prstGeom prst="roundRect">
            <a:avLst>
              <a:gd name="adj" fmla="val 340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5888" y="3886200"/>
            <a:ext cx="502920" cy="50292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21" name="Text 19"/>
          <p:cNvSpPr/>
          <p:nvPr/>
        </p:nvSpPr>
        <p:spPr>
          <a:xfrm>
            <a:off x="6415888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5968" y="386791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离焦理论是密码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1608" y="4480560"/>
            <a:ext cx="49528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预言 5 年内近视认知出现分水岭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"可回退"将占据上风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近视防控将反守为攻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"望远"——最核心的行为干预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杜军辉将"望远"置于所有干预手段之上，认为其效果优于户外活动和阳光照射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45738" cy="1463040"/>
          </a:xfrm>
          <a:prstGeom prst="roundRect">
            <a:avLst>
              <a:gd name="adj" fmla="val 500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801368"/>
            <a:ext cx="411480" cy="41148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783080"/>
            <a:ext cx="272277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望远为王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167128"/>
            <a:ext cx="2722778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望远＞户外＞阳光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望远，会颠覆近视的固有认知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978" y="1691640"/>
            <a:ext cx="3545738" cy="1463040"/>
          </a:xfrm>
          <a:prstGeom prst="roundRect">
            <a:avLst>
              <a:gd name="adj" fmla="val 500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60138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60138" y="180136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14" name="Text 12"/>
          <p:cNvSpPr/>
          <p:nvPr/>
        </p:nvSpPr>
        <p:spPr>
          <a:xfrm>
            <a:off x="4460138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1346" y="1783080"/>
            <a:ext cx="272277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望远也需要调节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1346" y="2167128"/>
            <a:ext cx="2722778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睫状肌放射肌纤维收缩产生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挑战教科书"望远=放松"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691640"/>
            <a:ext cx="3545738" cy="1463040"/>
          </a:xfrm>
          <a:prstGeom prst="roundRect">
            <a:avLst>
              <a:gd name="adj" fmla="val 500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34477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34477" y="180136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20" name="Text 18"/>
          <p:cNvSpPr/>
          <p:nvPr/>
        </p:nvSpPr>
        <p:spPr>
          <a:xfrm>
            <a:off x="8234477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55685" y="1783080"/>
            <a:ext cx="272277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时间积累公式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55685" y="2167128"/>
            <a:ext cx="2722778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视近调节+时间=眼轴增长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望远调节+时间=眼轴缩短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319272"/>
            <a:ext cx="3545738" cy="1463040"/>
          </a:xfrm>
          <a:prstGeom prst="roundRect">
            <a:avLst>
              <a:gd name="adj" fmla="val 500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3410712"/>
            <a:ext cx="272277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睡前望远最佳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7008" y="3794760"/>
            <a:ext cx="2722778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相同时长下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睡前望远性价比最高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22978" y="3319272"/>
            <a:ext cx="3545738" cy="1463040"/>
          </a:xfrm>
          <a:prstGeom prst="roundRect">
            <a:avLst>
              <a:gd name="adj" fmla="val 500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60138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60138" y="3429000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32" name="Text 30"/>
          <p:cNvSpPr/>
          <p:nvPr/>
        </p:nvSpPr>
        <p:spPr>
          <a:xfrm>
            <a:off x="4460138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81346" y="3410712"/>
            <a:ext cx="272277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望远也会累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81346" y="3794760"/>
            <a:ext cx="2722778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但适度累能促进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退轴欲望的产生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97317" y="3319272"/>
            <a:ext cx="3545738" cy="1463040"/>
          </a:xfrm>
          <a:prstGeom prst="roundRect">
            <a:avLst>
              <a:gd name="adj" fmla="val 500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34477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34477" y="3429000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38" name="Text 36"/>
          <p:cNvSpPr/>
          <p:nvPr/>
        </p:nvSpPr>
        <p:spPr>
          <a:xfrm>
            <a:off x="8234477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755685" y="3410712"/>
            <a:ext cx="272277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闭眼≠休息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55685" y="3794760"/>
            <a:ext cx="2722778" cy="8778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闭眼/睡觉不能放松眼睛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望远才能解除调节疲劳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BF1EF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77240" y="525780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颠覆性观点 [23]：</a:t>
            </a:r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反对 20-20-20 法则，认为弊大于利。每 20 分钟看远 20 秒远远不够。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离焦理论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411480" cy="411480"/>
          </a:xfrm>
          <a:prstGeom prst="ellipse">
            <a:avLst/>
          </a:prstGeom>
          <a:solidFill>
            <a:srgbClr val="D496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离焦=眼轴指挥棒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847088"/>
            <a:ext cx="4587088" cy="1517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离焦指到哪，眼轴就跟到哪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不仅能涨，也能退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这是整个理论体系的基石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0168" y="148132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13" name="Text 11"/>
          <p:cNvSpPr/>
          <p:nvPr/>
        </p:nvSpPr>
        <p:spPr>
          <a:xfrm>
            <a:off x="6370168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91376" y="1463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中心微量前离焦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91376" y="1847088"/>
            <a:ext cx="4587088" cy="1517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创造主动缩轴欲望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被动缩轴信号+主动缩轴欲望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= 最佳缩轴条件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767328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3749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望远增强离焦镜效果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4133088"/>
            <a:ext cx="4587088" cy="1517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望远时周边离焦量增加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离焦镜望远时效果更强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望远+离焦镜协同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3008" y="365760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70168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0168" y="376732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25" name="Text 23"/>
          <p:cNvSpPr/>
          <p:nvPr/>
        </p:nvSpPr>
        <p:spPr>
          <a:xfrm>
            <a:off x="6370168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1376" y="3749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近点离焦与远点离焦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1376" y="4133088"/>
            <a:ext cx="4587088" cy="1517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离焦效果与用眼距离有关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不同距离下离焦量不同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→ 合适的离焦是近视回退密码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眼轴回退机制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FC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杜军辉坚信眼轴可退，并提出三大回退机制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0E3D48"/>
          </a:solidFill>
          <a:ln w="12700">
            <a:solidFill>
              <a:srgbClr val="1A55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324093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脉络膜增厚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240938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脉络膜变厚将视网膜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向前推移，缩短光学眼轴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0E3D48"/>
          </a:solidFill>
          <a:ln w="12700">
            <a:solidFill>
              <a:srgbClr val="1A55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5378" y="1920240"/>
            <a:ext cx="324093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眼球形变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75378" y="2468880"/>
            <a:ext cx="3240938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眼球在赤道方向的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形态变化影响轴长测量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1737360"/>
            <a:ext cx="3515258" cy="2011680"/>
          </a:xfrm>
          <a:prstGeom prst="roundRect">
            <a:avLst>
              <a:gd name="adj" fmla="val 3636"/>
            </a:avLst>
          </a:prstGeom>
          <a:solidFill>
            <a:srgbClr val="0E3D48"/>
          </a:solidFill>
          <a:ln w="12700">
            <a:solidFill>
              <a:srgbClr val="1A5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4957" y="1920240"/>
            <a:ext cx="324093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巩膜重塑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64957" y="2468880"/>
            <a:ext cx="3240938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巩膜纤维可发生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逆向重塑（颠覆性认知）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0E3D48"/>
          </a:solidFill>
          <a:ln w="8890">
            <a:solidFill>
              <a:srgbClr val="1A55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7764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[20]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9776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眼轴回退三大机制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977640"/>
            <a:ext cx="707105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DCD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脉络膜增厚、眼球形变、巩膜重塑——巩膜重塑是最颠覆认知的部分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18888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0E3D48"/>
          </a:solidFill>
          <a:ln w="8890">
            <a:solidFill>
              <a:srgbClr val="1A55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18888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[21]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81888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眼轴与身高对比不合理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818888"/>
            <a:ext cx="707105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DCD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身高在长，眼轴也可以退。将两者类比存在误导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660136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0E3D48"/>
          </a:solidFill>
          <a:ln w="8890">
            <a:solidFill>
              <a:srgbClr val="1A55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660136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[40]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66013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望远促使正视化（双刃剑）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9120" y="5660136"/>
            <a:ext cx="7071055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8DCD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近视远视都会向 0 度靠拢——有远视储备的孩子不合理望远反而消耗储备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BBFC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眼镜与配镜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眼镜 = 光学药物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847088"/>
            <a:ext cx="4587088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过矫 = 中医补法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欠矫 = 泻法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足矫 = 平法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用中医思维理解配镜策略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0168" y="1481328"/>
            <a:ext cx="411480" cy="41148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13" name="Text 11"/>
          <p:cNvSpPr/>
          <p:nvPr/>
        </p:nvSpPr>
        <p:spPr>
          <a:xfrm>
            <a:off x="6370168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91376" y="1463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普通眼镜是"罪魁祸首"之一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91376" y="1847088"/>
            <a:ext cx="4587088" cy="13350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眼镜与近距离用眼"协同犯案"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共同促进近视不断增长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但功能镜能延缓过程、改变结局度数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58444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356616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散光未必是坏人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3950208"/>
            <a:ext cx="458708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适度的顺规散光或许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有助于近视控制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3008" y="347472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70168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28/29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70168" y="358444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25" name="Text 23"/>
          <p:cNvSpPr/>
          <p:nvPr/>
        </p:nvSpPr>
        <p:spPr>
          <a:xfrm>
            <a:off x="6370168" y="3584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28/29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91376" y="356616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屈光度变化 8 种 + 视力提高 10 种机制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1376" y="3950208"/>
            <a:ext cx="4587088" cy="7863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近视变化和视力改善的机制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远比表面看到的复杂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哺光仪（650nm 红光）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FBF1EF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087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[9]  </a:t>
            </a:r>
            <a:pPr indent="0" marL="0">
              <a:buNone/>
            </a:pPr>
            <a:r>
              <a:rPr lang="en-US" sz="20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红光是核武器，是最后一个救命稻草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[27]  </a:t>
            </a:r>
            <a:pPr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在高度/超高度近视中，红光治疗效果无出其右，放弃红光就是自废武功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杜军辉临床数据（6 个月对照研究）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545738" cy="2011680"/>
          </a:xfrm>
          <a:prstGeom prst="roundRect">
            <a:avLst>
              <a:gd name="adj" fmla="val 363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411480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83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普通框架镜组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眼轴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77316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+0.23 mm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5303520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脉络膜厚度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5504688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-16.84 μm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22978" y="3977640"/>
            <a:ext cx="3545738" cy="2011680"/>
          </a:xfrm>
          <a:prstGeom prst="roundRect">
            <a:avLst>
              <a:gd name="adj" fmla="val 3636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60138" y="411480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OK 镜组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60138" y="4572000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眼轴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60138" y="477316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+0.06 mm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60138" y="5303520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脉络膜厚度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60138" y="5504688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+14.98 μm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7317" y="3977640"/>
            <a:ext cx="3545738" cy="2011680"/>
          </a:xfrm>
          <a:prstGeom prst="roundRect">
            <a:avLst>
              <a:gd name="adj" fmla="val 3636"/>
            </a:avLst>
          </a:prstGeom>
          <a:solidFill>
            <a:srgbClr val="FBF1EF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34477" y="411480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哺光仪组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34477" y="4572000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眼轴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34477" y="477316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-0.06 mm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34477" y="5303520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脉络膜厚度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34477" y="5504688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+35.30 μm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视功能与调节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44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[10]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正镜推远法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放松调节、缓解近距离用眼疲劳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7964" y="1371600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9404" y="1444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[11]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59404" y="1664208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负镜移近-正镜推远法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59404" y="1993392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提升调节幅度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8728" y="1444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[19]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78728" y="1664208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部分调节性近视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78728" y="1993392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警惕近视发展中间段的假性近视（尤其使用拉远设备者）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06611" y="1371600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BF1EF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051" y="1444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[30]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051" y="1664208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辨病与辨证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98051" y="1993392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区分调节过度 vs 调节不足（如风寒 vs 风热），用错方法近视长得更快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24328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[31]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916936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攻邪与扶正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训练视功能=扶正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7964" y="2624328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59404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[32]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59404" y="2916936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视功能=抵抗力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59404" y="3246120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良好视功能是对近距离用眼伤害的抵抗力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7288" y="2624328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78728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[33]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8728" y="2916936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视觉功能五联动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78728" y="3246120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五要素牵一发动全身，加眼镜=配镜-视觉六联动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06611" y="2624328"/>
            <a:ext cx="2636444" cy="1115568"/>
          </a:xfrm>
          <a:prstGeom prst="roundRect">
            <a:avLst>
              <a:gd name="adj" fmla="val 6557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098051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[35]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98051" y="2916936"/>
            <a:ext cx="245356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调节滞后三原因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098051" y="3246120"/>
            <a:ext cx="2453564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能力问题、态度问题、团队问题——偷懒是进化选择，难以消除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7033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AF5F1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" y="370332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核心逻辑：</a:t>
            </a:r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近视防控不能只看度数和眼轴，必须同时评估视功能状态。调节过度和调节不足是完全相反的问题，用错方法会适得其反。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进化/演化视角（独特理论框架）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45738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508760"/>
            <a:ext cx="263133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近视是一种进化/演化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3179978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从演化医学（达尔文医学）看近视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进化只是一种功能权衡的选择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2978" y="1371600"/>
            <a:ext cx="3545738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0138" y="1508760"/>
            <a:ext cx="457200" cy="457200"/>
          </a:xfrm>
          <a:prstGeom prst="ellipse">
            <a:avLst/>
          </a:prstGeom>
          <a:solidFill>
            <a:srgbClr val="D4960A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36210" y="1508760"/>
            <a:ext cx="263133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偷懒理论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05858" y="2029968"/>
            <a:ext cx="3179978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近视是生物最低能量消耗的进化选择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变成近视是为了让眼睛更好地偷懒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1371600"/>
            <a:ext cx="3545738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4477" y="1508760"/>
            <a:ext cx="457200" cy="45720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34477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10549" y="1508760"/>
            <a:ext cx="263133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7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生物三大代偿机制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80197" y="2029968"/>
            <a:ext cx="3179978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代偿机制能够解释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近视发生发展的完整过程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5432908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3291840"/>
            <a:ext cx="451850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中医阴阳看近视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813048"/>
            <a:ext cx="5067148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阴阳与大环境改变有关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阴阳是全局观，可指导近视行为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0148" y="3154680"/>
            <a:ext cx="5432908" cy="1645920"/>
          </a:xfrm>
          <a:prstGeom prst="roundRect">
            <a:avLst>
              <a:gd name="adj" fmla="val 4444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47308" y="3291840"/>
            <a:ext cx="457200" cy="45720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26" name="Text 24"/>
          <p:cNvSpPr/>
          <p:nvPr/>
        </p:nvSpPr>
        <p:spPr>
          <a:xfrm>
            <a:off x="634730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23380" y="3291840"/>
            <a:ext cx="451850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差眼偷懒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93028" y="3813048"/>
            <a:ext cx="5067148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近视眼看近更轻松→更多看近→越长越快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严重时两眼轮流站岗，差距越来越大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拉远设备的使用与风险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拉远设备=未来主流防控手段之一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847088"/>
            <a:ext cx="4587088" cy="9235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走路望远与开车望远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开车省事，走路省钱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拉远设备相当于"开车望远"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0F5F6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70168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0168" y="1481328"/>
            <a:ext cx="411480" cy="411480"/>
          </a:xfrm>
          <a:prstGeom prst="ellipse">
            <a:avLst/>
          </a:prstGeom>
          <a:solidFill>
            <a:srgbClr val="167E8A"/>
          </a:solidFill>
          <a:ln/>
        </p:spPr>
      </p:sp>
      <p:sp>
        <p:nvSpPr>
          <p:cNvPr id="13" name="Text 11"/>
          <p:cNvSpPr/>
          <p:nvPr/>
        </p:nvSpPr>
        <p:spPr>
          <a:xfrm>
            <a:off x="6370168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91376" y="1463040"/>
            <a:ext cx="45870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电子产品是"背锅侠"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91376" y="1847088"/>
            <a:ext cx="4587088" cy="9235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近距离才是近视的真凶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把电视用好了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电视也可以用来防控近视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1094415" cy="2926080"/>
          </a:xfrm>
          <a:prstGeom prst="roundRect">
            <a:avLst>
              <a:gd name="adj" fmla="val 2500"/>
            </a:avLst>
          </a:prstGeom>
          <a:solidFill>
            <a:srgbClr val="FBF1EF"/>
          </a:solidFill>
          <a:ln w="8890">
            <a:solidFill>
              <a:srgbClr val="D0DFE2"/>
            </a:solidFill>
            <a:prstDash val="solid"/>
          </a:ln>
          <a:effectLst>
            <a:outerShdw sx="100000" sy="100000" kx="0" ky="0" algn="bl" rotWithShape="0" blurRad="76200" dist="25400" dir="5400000">
              <a:srgbClr val="9BB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200400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[39] </a:t>
            </a:r>
            <a:pPr indent="0" marL="0">
              <a:buNone/>
            </a:pPr>
            <a:r>
              <a:rPr lang="en-US" sz="18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拉远设备的风险——必须重视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10637215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E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反复强调的 3 大常见风险：
</a:t>
            </a:r>
            <a:pPr indent="0" marL="0">
              <a:buNone/>
            </a:pPr>
            <a:r>
              <a:rPr lang="en-US" sz="1300" b="1" dirty="0">
                <a:solidFill>
                  <a:srgbClr val="C34A3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远视储备消耗</a:t>
            </a:r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—— 有远视储备的孩子不合理使用可能加速正视化
</a:t>
            </a:r>
            <a:pPr indent="0" marL="0">
              <a:buNone/>
            </a:pPr>
            <a:r>
              <a:rPr lang="en-US" sz="1300" b="1" dirty="0">
                <a:solidFill>
                  <a:srgbClr val="C34A3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外斜风险</a:t>
            </a:r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—— 长时间望远可能诱发/加重外斜
</a:t>
            </a:r>
            <a:pPr indent="0" marL="0">
              <a:buNone/>
            </a:pPr>
            <a:r>
              <a:rPr lang="en-US" sz="1300" b="1" dirty="0">
                <a:solidFill>
                  <a:srgbClr val="C34A3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调节功能下降</a:t>
            </a:r>
            <a:pPr indent="0" marL="0">
              <a:buNone/>
            </a:pPr>
            <a:r>
              <a:rPr lang="en-US" sz="1300" dirty="0">
                <a:solidFill>
                  <a:srgbClr val="1A2E33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 —— 长时间望远可能导致调节力下降
</a:t>
            </a:r>
            <a:pPr indent="0" marL="0">
              <a:buNone/>
            </a:pPr>
            <a:r>
              <a:rPr lang="en-US" sz="12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另外：聚焦望远 4 种已知风险 + 拉远设备容易长眼轴的 7 种原因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388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主题十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关于阿托品的重要提醒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2286000"/>
          </a:xfrm>
          <a:prstGeom prst="roundRect">
            <a:avLst>
              <a:gd name="adj" fmla="val 4000"/>
            </a:avLst>
          </a:prstGeom>
          <a:solidFill>
            <a:srgbClr val="0E3D48"/>
          </a:solidFill>
          <a:ln w="25400">
            <a:solidFill>
              <a:srgbClr val="C34A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调节不足的孩子慎用阿托品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调节不足用了阿托品，可能反而长得更快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BFC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2024 年 9 月阿托品专家共识正式写入"调节不足慎用"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2021.01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40280" y="4544568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4389120"/>
            <a:ext cx="880841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杜军辉在自己孩子身上发现调节不足+阿托品→反而加速近视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983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会议中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40280" y="5138928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4983480"/>
            <a:ext cx="880841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在兴齐线上会议提出，遭到"不可能"的质疑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577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96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2024.09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5733288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5577840"/>
            <a:ext cx="880841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阿托品专家共识正式写入"调节不足慎用"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领先专家共识整整 3 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BBFC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828800"/>
            <a:ext cx="3474720" cy="3474720"/>
          </a:xfrm>
          <a:prstGeom prst="ellipse">
            <a:avLst/>
          </a:prstGeom>
          <a:solidFill>
            <a:srgbClr val="0E3D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整体评价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高度重视"望远"，置于所有干预之上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408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坚信眼轴可退，提出三大回退机制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779776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79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7066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融合中医思维（阴阳/君臣佐使/辨证）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218688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145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引入达尔文演化医学（偷懒理论）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228600" cy="2286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584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强调个体化——调节过度 vs 不足区别对待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34A3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需要关注的争议点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1901952"/>
            <a:ext cx="228600" cy="22860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9019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"望远也需要调节"挑战经典生理学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2340864"/>
            <a:ext cx="228600" cy="22860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234086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2677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"眼轴可退"业内仍有争议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2779776"/>
            <a:ext cx="228600" cy="22860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779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27066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部分观点较激进（如反对20-20-20）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3218688"/>
            <a:ext cx="228600" cy="228600"/>
          </a:xfrm>
          <a:prstGeom prst="ellipse">
            <a:avLst/>
          </a:prstGeom>
          <a:solidFill>
            <a:srgbClr val="C34A36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2186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3145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8EA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与耐德视有商业合作关系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0A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本文档仅供学习参考，不代表编者立场。临床决策请以循证医学证据和专家共识为准。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19088"/>
            <a:ext cx="57607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BBFC4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2026-09-02T03:47:49Z</dcterms:created>
  <dcterms:modified xsi:type="dcterms:W3CDTF">2026-09-02T03:47:49Z</dcterms:modified>
</cp:coreProperties>
</file>