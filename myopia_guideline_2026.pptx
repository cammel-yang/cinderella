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notesMasterIdLst>
    <p:notesMasterId r:id="rId23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notesMaster" Target="notesMasters/notesMaster1.xml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heme" Target="theme/theme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C3A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418320" y="-1463040"/>
            <a:ext cx="4206240" cy="4206240"/>
          </a:xfrm>
          <a:prstGeom prst="ellipse">
            <a:avLst/>
          </a:prstGeom>
          <a:solidFill>
            <a:srgbClr val="134956"/>
          </a:solidFill>
          <a:ln/>
        </p:spPr>
      </p:sp>
      <p:sp>
        <p:nvSpPr>
          <p:cNvPr id="3" name="Shape 1"/>
          <p:cNvSpPr/>
          <p:nvPr/>
        </p:nvSpPr>
        <p:spPr>
          <a:xfrm>
            <a:off x="10607040" y="4297680"/>
            <a:ext cx="3108960" cy="3108960"/>
          </a:xfrm>
          <a:prstGeom prst="ellipse">
            <a:avLst/>
          </a:prstGeom>
          <a:solidFill>
            <a:srgbClr val="0F434F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8288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spc="100" kern="0" dirty="0">
                <a:solidFill>
                  <a:srgbClr val="2A9D8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国家卫生健康委员会 · 临床指南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48640" y="2286000"/>
            <a:ext cx="10058400" cy="10058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《近视防治指南》</a:t>
            </a: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548640" y="3310128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600" dirty="0">
                <a:solidFill>
                  <a:srgbClr val="CFE3E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（2026 年版）· 要点解读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548640" y="411480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AFC9C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面向眼科医护与门诊团队的专业解读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48640" y="5943600"/>
            <a:ext cx="950976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86A6A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定义分类 · 影响因素与预防 · 相关检查 · 矫正与控制 · 病理性近视治疗 · 成人手术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1430000" y="6419088"/>
            <a:ext cx="576072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1100" dirty="0">
                <a:solidFill>
                  <a:srgbClr val="9BBFC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11094415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A9D8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OVERVIEW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48640"/>
            <a:ext cx="11094415" cy="6858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3323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指南结构 · 六大部分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3484778" cy="2011680"/>
          </a:xfrm>
          <a:prstGeom prst="roundRect">
            <a:avLst>
              <a:gd name="adj" fmla="val 4091"/>
            </a:avLst>
          </a:prstGeom>
          <a:solidFill>
            <a:srgbClr val="F1F6F7"/>
          </a:solidFill>
          <a:ln w="12700">
            <a:solidFill>
              <a:srgbClr val="D7E2E4"/>
            </a:solidFill>
            <a:prstDash val="solid"/>
          </a:ln>
          <a:effectLst>
            <a:outerShdw sx="100000" sy="100000" kx="0" ky="0" algn="bl" rotWithShape="0" blurRad="101600" dist="38100" dir="5400000">
              <a:srgbClr val="9BB3B8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1764792"/>
            <a:ext cx="658368" cy="65836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6" name="Text 4"/>
          <p:cNvSpPr/>
          <p:nvPr/>
        </p:nvSpPr>
        <p:spPr>
          <a:xfrm>
            <a:off x="804672" y="1764792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04672" y="2532888"/>
            <a:ext cx="297271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3323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定义、分类与分期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04672" y="2990088"/>
            <a:ext cx="2972714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5E707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屈光/轴性；单纯性/病理性；度数分级；四期防控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353458" y="1508760"/>
            <a:ext cx="3484778" cy="2011680"/>
          </a:xfrm>
          <a:prstGeom prst="roundRect">
            <a:avLst>
              <a:gd name="adj" fmla="val 4091"/>
            </a:avLst>
          </a:prstGeom>
          <a:solidFill>
            <a:srgbClr val="F1F6F7"/>
          </a:solidFill>
          <a:ln w="12700">
            <a:solidFill>
              <a:srgbClr val="D7E2E4"/>
            </a:solidFill>
            <a:prstDash val="solid"/>
          </a:ln>
          <a:effectLst>
            <a:outerShdw sx="100000" sy="100000" kx="0" ky="0" algn="bl" rotWithShape="0" blurRad="101600" dist="38100" dir="5400000">
              <a:srgbClr val="9BB3B8">
                <a:alpha val="3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609490" y="1764792"/>
            <a:ext cx="658368" cy="65836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1" name="Text 9"/>
          <p:cNvSpPr/>
          <p:nvPr/>
        </p:nvSpPr>
        <p:spPr>
          <a:xfrm>
            <a:off x="4609490" y="1764792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02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609490" y="2532888"/>
            <a:ext cx="297271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3323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影响因素及预防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609490" y="2990088"/>
            <a:ext cx="2972714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5E707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环境行为、遗传、基因-环境交互与重点人群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8158277" y="1508760"/>
            <a:ext cx="3484778" cy="2011680"/>
          </a:xfrm>
          <a:prstGeom prst="roundRect">
            <a:avLst>
              <a:gd name="adj" fmla="val 4091"/>
            </a:avLst>
          </a:prstGeom>
          <a:solidFill>
            <a:srgbClr val="F1F6F7"/>
          </a:solidFill>
          <a:ln w="12700">
            <a:solidFill>
              <a:srgbClr val="D7E2E4"/>
            </a:solidFill>
            <a:prstDash val="solid"/>
          </a:ln>
          <a:effectLst>
            <a:outerShdw sx="100000" sy="100000" kx="0" ky="0" algn="bl" rotWithShape="0" blurRad="101600" dist="38100" dir="5400000">
              <a:srgbClr val="9BB3B8">
                <a:alpha val="3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414309" y="1764792"/>
            <a:ext cx="658368" cy="65836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6" name="Text 14"/>
          <p:cNvSpPr/>
          <p:nvPr/>
        </p:nvSpPr>
        <p:spPr>
          <a:xfrm>
            <a:off x="8414309" y="1764792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03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8414309" y="2532888"/>
            <a:ext cx="297271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3323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相关检查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414309" y="2990088"/>
            <a:ext cx="2972714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5E707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建档筛查、眼轴、眼底、睫状肌麻痹验光、远视储备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548640" y="3794760"/>
            <a:ext cx="3484778" cy="2011680"/>
          </a:xfrm>
          <a:prstGeom prst="roundRect">
            <a:avLst>
              <a:gd name="adj" fmla="val 4091"/>
            </a:avLst>
          </a:prstGeom>
          <a:solidFill>
            <a:srgbClr val="F1F6F7"/>
          </a:solidFill>
          <a:ln w="12700">
            <a:solidFill>
              <a:srgbClr val="D7E2E4"/>
            </a:solidFill>
            <a:prstDash val="solid"/>
          </a:ln>
          <a:effectLst>
            <a:outerShdw sx="100000" sy="100000" kx="0" ky="0" algn="bl" rotWithShape="0" blurRad="101600" dist="38100" dir="5400000">
              <a:srgbClr val="9BB3B8">
                <a:alpha val="3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804672" y="4050792"/>
            <a:ext cx="658368" cy="65836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1" name="Text 19"/>
          <p:cNvSpPr/>
          <p:nvPr/>
        </p:nvSpPr>
        <p:spPr>
          <a:xfrm>
            <a:off x="804672" y="4050792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04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804672" y="4818888"/>
            <a:ext cx="297271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3323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矫正与控制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804672" y="5276088"/>
            <a:ext cx="2972714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5E707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框架镜、接触镜/OK镜、低浓度阿托品、随访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4353458" y="3794760"/>
            <a:ext cx="3484778" cy="2011680"/>
          </a:xfrm>
          <a:prstGeom prst="roundRect">
            <a:avLst>
              <a:gd name="adj" fmla="val 4091"/>
            </a:avLst>
          </a:prstGeom>
          <a:solidFill>
            <a:srgbClr val="F1F6F7"/>
          </a:solidFill>
          <a:ln w="12700">
            <a:solidFill>
              <a:srgbClr val="D7E2E4"/>
            </a:solidFill>
            <a:prstDash val="solid"/>
          </a:ln>
          <a:effectLst>
            <a:outerShdw sx="100000" sy="100000" kx="0" ky="0" algn="bl" rotWithShape="0" blurRad="101600" dist="38100" dir="5400000">
              <a:srgbClr val="9BB3B8">
                <a:alpha val="3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609490" y="4050792"/>
            <a:ext cx="658368" cy="65836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6" name="Text 24"/>
          <p:cNvSpPr/>
          <p:nvPr/>
        </p:nvSpPr>
        <p:spPr>
          <a:xfrm>
            <a:off x="4609490" y="4050792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05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4609490" y="4818888"/>
            <a:ext cx="297271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3323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病理性近视及并发症治疗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4609490" y="5276088"/>
            <a:ext cx="2972714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5E707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激光光凝、抗 VEGF、手术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8158277" y="3794760"/>
            <a:ext cx="3484778" cy="2011680"/>
          </a:xfrm>
          <a:prstGeom prst="roundRect">
            <a:avLst>
              <a:gd name="adj" fmla="val 4091"/>
            </a:avLst>
          </a:prstGeom>
          <a:solidFill>
            <a:srgbClr val="F1F6F7"/>
          </a:solidFill>
          <a:ln w="12700">
            <a:solidFill>
              <a:srgbClr val="D7E2E4"/>
            </a:solidFill>
            <a:prstDash val="solid"/>
          </a:ln>
          <a:effectLst>
            <a:outerShdw sx="100000" sy="100000" kx="0" ky="0" algn="bl" rotWithShape="0" blurRad="101600" dist="38100" dir="5400000">
              <a:srgbClr val="9BB3B8">
                <a:alpha val="35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8414309" y="4050792"/>
            <a:ext cx="658368" cy="65836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31" name="Text 29"/>
          <p:cNvSpPr/>
          <p:nvPr/>
        </p:nvSpPr>
        <p:spPr>
          <a:xfrm>
            <a:off x="8414309" y="4050792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06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8414309" y="4818888"/>
            <a:ext cx="297271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3323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成人近视手术矫正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8414309" y="5276088"/>
            <a:ext cx="2972714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5E707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激光角膜屈光手术、有晶体眼 IOL 植入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11430000" y="6419088"/>
            <a:ext cx="576072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1100" dirty="0">
                <a:solidFill>
                  <a:srgbClr val="5E707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11094415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A9D8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BACKGROUND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48640"/>
            <a:ext cx="11094415" cy="6858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3323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背景与意义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554480"/>
            <a:ext cx="6400800" cy="32918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342900" indent="-342900">
              <a:lnSpc>
                <a:spcPct val="1250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3323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我国近视患病率居高不下，已成为影响国民、尤其是儿童青少年眼健康的重大公共卫生问题。</a:t>
            </a:r>
            <a:endParaRPr lang="en-US" sz="1600" dirty="0"/>
          </a:p>
          <a:p>
            <a:pPr marL="342900" indent="-342900">
              <a:lnSpc>
                <a:spcPct val="1250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3323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流行病学显示：病理性近视相关眼底病变，已成为我国不可逆性致盲眼病的主要原因之一。</a:t>
            </a:r>
            <a:endParaRPr lang="en-US" sz="160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600" dirty="0">
                <a:solidFill>
                  <a:srgbClr val="13323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防治核心：早筛查、早建档、早干预，全程延缓进展、防控高度与病理性近视。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7406640" y="1554480"/>
            <a:ext cx="4206240" cy="1554480"/>
          </a:xfrm>
          <a:prstGeom prst="roundRect">
            <a:avLst>
              <a:gd name="adj" fmla="val 5294"/>
            </a:avLst>
          </a:prstGeom>
          <a:solidFill>
            <a:srgbClr val="F1F6F7"/>
          </a:solidFill>
          <a:ln w="12700">
            <a:solidFill>
              <a:srgbClr val="D7E2E4"/>
            </a:solidFill>
            <a:prstDash val="solid"/>
          </a:ln>
          <a:effectLst>
            <a:outerShdw sx="100000" sy="100000" kx="0" ky="0" algn="bl" rotWithShape="0" blurRad="101600" dist="38100" dir="5400000">
              <a:srgbClr val="9BB3B8">
                <a:alpha val="3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635240" y="1719072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C34A3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致盲主因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7635240" y="2157984"/>
            <a:ext cx="3749040" cy="8229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3323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病理性近视眼底病变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13323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= 不可逆致盲主要原因之一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7406640" y="3291840"/>
            <a:ext cx="4206240" cy="1554480"/>
          </a:xfrm>
          <a:prstGeom prst="roundRect">
            <a:avLst>
              <a:gd name="adj" fmla="val 5294"/>
            </a:avLst>
          </a:prstGeom>
          <a:solidFill>
            <a:srgbClr val="F1F6F7"/>
          </a:solidFill>
          <a:ln w="12700">
            <a:solidFill>
              <a:srgbClr val="D7E2E4"/>
            </a:solidFill>
            <a:prstDash val="solid"/>
          </a:ln>
          <a:effectLst>
            <a:outerShdw sx="100000" sy="100000" kx="0" ky="0" algn="bl" rotWithShape="0" blurRad="101600" dist="38100" dir="5400000">
              <a:srgbClr val="9BB3B8">
                <a:alpha val="3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7635240" y="3456432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C729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防控关键期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7635240" y="3895344"/>
            <a:ext cx="3749040" cy="8229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3323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儿童青少年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13323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远视储备的保护与消耗速度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11430000" y="6419088"/>
            <a:ext cx="576072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1100" dirty="0">
                <a:solidFill>
                  <a:srgbClr val="5E707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3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11094415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A9D8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PART 01 · 定义与分类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48640"/>
            <a:ext cx="11094415" cy="6858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3323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定义 · 按屈光成分/病程分类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5394960" cy="1234440"/>
          </a:xfrm>
          <a:prstGeom prst="roundRect">
            <a:avLst>
              <a:gd name="adj" fmla="val 6667"/>
            </a:avLst>
          </a:prstGeom>
          <a:solidFill>
            <a:srgbClr val="F1F6F7"/>
          </a:solidFill>
          <a:ln w="12700">
            <a:solidFill>
              <a:srgbClr val="D7E2E4"/>
            </a:solidFill>
            <a:prstDash val="solid"/>
          </a:ln>
          <a:effectLst>
            <a:outerShdw sx="100000" sy="100000" kx="0" ky="0" algn="bl" rotWithShape="0" blurRad="101600" dist="38100" dir="5400000">
              <a:srgbClr val="9BB3B8">
                <a:alpha val="3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77240" y="1572768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C729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定义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77240" y="1883664"/>
            <a:ext cx="4937760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3323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调节放松时，平行光线经眼球屈光系统聚焦于视网膜之前，属屈光不正的一种。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548640" y="2880360"/>
            <a:ext cx="5394960" cy="329184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>
            <a:solidFill>
              <a:srgbClr val="D7E2E4"/>
            </a:solidFill>
            <a:prstDash val="solid"/>
          </a:ln>
          <a:effectLst>
            <a:outerShdw sx="100000" sy="100000" kx="0" ky="0" algn="bl" rotWithShape="0" blurRad="101600" dist="38100" dir="5400000">
              <a:srgbClr val="9BB3B8">
                <a:alpha val="3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777240" y="3017520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C729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按屈光成分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777240" y="3383280"/>
            <a:ext cx="4937760" cy="265176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3323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屈光性近视：角膜/晶状体屈光力过大或屈光指数异常，眼轴基本正常（含曲率性、屈光指数性、调节性）</a:t>
            </a:r>
            <a:endParaRPr lang="en-US" sz="1350" dirty="0"/>
          </a:p>
          <a:p>
            <a:pPr marL="342900" indent="-342900">
              <a:buSzPct val="100000"/>
              <a:buChar char="•"/>
            </a:pPr>
            <a:r>
              <a:rPr lang="en-US" sz="1350" dirty="0">
                <a:solidFill>
                  <a:srgbClr val="13323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轴性近视：眼轴延长超出正常，其他屈光成分基本正常 —— 临床最常见类型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309360" y="1463040"/>
            <a:ext cx="5330952" cy="4709160"/>
          </a:xfrm>
          <a:prstGeom prst="roundRect">
            <a:avLst>
              <a:gd name="adj" fmla="val 1748"/>
            </a:avLst>
          </a:prstGeom>
          <a:solidFill>
            <a:srgbClr val="FFFFFF"/>
          </a:solidFill>
          <a:ln w="12700">
            <a:solidFill>
              <a:srgbClr val="D7E2E4"/>
            </a:solidFill>
            <a:prstDash val="solid"/>
          </a:ln>
          <a:effectLst>
            <a:outerShdw sx="100000" sy="100000" kx="0" ky="0" algn="bl" rotWithShape="0" blurRad="101600" dist="38100" dir="5400000">
              <a:srgbClr val="9BB3B8">
                <a:alpha val="3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537960" y="1600200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C729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按病程进展与病理变化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537960" y="1965960"/>
            <a:ext cx="4892040" cy="41148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2A9D8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单纯性近视</a:t>
            </a:r>
            <a:endParaRPr lang="en-US" sz="15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350" dirty="0">
                <a:solidFill>
                  <a:srgbClr val="13323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多见于生长发育期，一般 ≤600 度；眼底多无病理变化，配镜可矫正至正常。</a:t>
            </a:r>
            <a:endParaRPr lang="en-US" sz="15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C34A3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病理性近视</a:t>
            </a:r>
            <a:endParaRPr lang="en-US" sz="15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50" dirty="0">
                <a:solidFill>
                  <a:srgbClr val="13323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近视持续进展、眼轴持续延长，伴眼底退行性病变；后巩膜葡萄肿、视盘旁萎缩弧、豹纹状眼底、Fuchs 斑、脉络膜萎缩等。</a:t>
            </a:r>
            <a:endParaRPr lang="en-US" sz="1500" dirty="0"/>
          </a:p>
          <a:p>
            <a:pPr indent="0" marL="0">
              <a:buNone/>
            </a:pPr>
            <a:r>
              <a:rPr lang="en-US" sz="1300" dirty="0">
                <a:solidFill>
                  <a:srgbClr val="5E707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并发症风险显著升高：视网膜裂孔/脱离、黄斑 CNV 与出血、早发白内障、玻璃体混浊及后脱离、开角型青光眼等。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1430000" y="6419088"/>
            <a:ext cx="576072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1100" dirty="0">
                <a:solidFill>
                  <a:srgbClr val="5E707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4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11094415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A9D8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PART 01 · 度数分级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48640"/>
            <a:ext cx="11094415" cy="6858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3323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按度数分类（睫状肌麻痹后 SE）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3454298" cy="2743200"/>
          </a:xfrm>
          <a:prstGeom prst="roundRect">
            <a:avLst>
              <a:gd name="adj" fmla="val 3000"/>
            </a:avLst>
          </a:prstGeom>
          <a:solidFill>
            <a:srgbClr val="F1F6F7"/>
          </a:solidFill>
          <a:ln w="12700">
            <a:solidFill>
              <a:srgbClr val="D7E2E4"/>
            </a:solidFill>
            <a:prstDash val="solid"/>
          </a:ln>
          <a:effectLst>
            <a:outerShdw sx="100000" sy="100000" kx="0" ky="0" algn="bl" rotWithShape="0" blurRad="101600" dist="38100" dir="5400000">
              <a:srgbClr val="9BB3B8">
                <a:alpha val="3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31520" y="1874520"/>
            <a:ext cx="3088538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2A9D8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50 ~ 300 度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731520" y="2880360"/>
            <a:ext cx="3088538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3323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低度近视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731520" y="3429000"/>
            <a:ext cx="3088538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dirty="0">
                <a:solidFill>
                  <a:srgbClr val="5E707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-3.00 D &lt; SE ≤ -0.50 D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368698" y="1600200"/>
            <a:ext cx="3454298" cy="2743200"/>
          </a:xfrm>
          <a:prstGeom prst="roundRect">
            <a:avLst>
              <a:gd name="adj" fmla="val 3000"/>
            </a:avLst>
          </a:prstGeom>
          <a:solidFill>
            <a:srgbClr val="F1F6F7"/>
          </a:solidFill>
          <a:ln w="12700">
            <a:solidFill>
              <a:srgbClr val="D7E2E4"/>
            </a:solidFill>
            <a:prstDash val="solid"/>
          </a:ln>
          <a:effectLst>
            <a:outerShdw sx="100000" sy="100000" kx="0" ky="0" algn="bl" rotWithShape="0" blurRad="101600" dist="38100" dir="5400000">
              <a:srgbClr val="9BB3B8">
                <a:alpha val="3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551578" y="1874520"/>
            <a:ext cx="3088538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C729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300 ~ 600 度</a:t>
            </a:r>
            <a:endParaRPr lang="en-US" sz="4000" dirty="0"/>
          </a:p>
        </p:txBody>
      </p:sp>
      <p:sp>
        <p:nvSpPr>
          <p:cNvPr id="10" name="Text 8"/>
          <p:cNvSpPr/>
          <p:nvPr/>
        </p:nvSpPr>
        <p:spPr>
          <a:xfrm>
            <a:off x="4551578" y="2880360"/>
            <a:ext cx="3088538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3323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中度近视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4551578" y="3429000"/>
            <a:ext cx="3088538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dirty="0">
                <a:solidFill>
                  <a:srgbClr val="5E707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-6.00 D &lt; SE ≤ -3.00 D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8188757" y="1600200"/>
            <a:ext cx="3454298" cy="2743200"/>
          </a:xfrm>
          <a:prstGeom prst="roundRect">
            <a:avLst>
              <a:gd name="adj" fmla="val 3000"/>
            </a:avLst>
          </a:prstGeom>
          <a:solidFill>
            <a:srgbClr val="F1F6F7"/>
          </a:solidFill>
          <a:ln w="12700">
            <a:solidFill>
              <a:srgbClr val="D7E2E4"/>
            </a:solidFill>
            <a:prstDash val="solid"/>
          </a:ln>
          <a:effectLst>
            <a:outerShdw sx="100000" sy="100000" kx="0" ky="0" algn="bl" rotWithShape="0" blurRad="101600" dist="38100" dir="5400000">
              <a:srgbClr val="9BB3B8">
                <a:alpha val="3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8371637" y="1874520"/>
            <a:ext cx="3088538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C34A3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＞ 600 度</a:t>
            </a:r>
            <a:endParaRPr lang="en-US" sz="4000" dirty="0"/>
          </a:p>
        </p:txBody>
      </p:sp>
      <p:sp>
        <p:nvSpPr>
          <p:cNvPr id="14" name="Text 12"/>
          <p:cNvSpPr/>
          <p:nvPr/>
        </p:nvSpPr>
        <p:spPr>
          <a:xfrm>
            <a:off x="8371637" y="2880360"/>
            <a:ext cx="3088538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3323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高度近视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8371637" y="3429000"/>
            <a:ext cx="3088538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dirty="0">
                <a:solidFill>
                  <a:srgbClr val="5E707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SE ≤ -6.00 D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548640" y="4617720"/>
            <a:ext cx="11094415" cy="123444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D7E2E4"/>
            </a:solidFill>
            <a:prstDash val="solid"/>
          </a:ln>
          <a:effectLst>
            <a:outerShdw sx="100000" sy="100000" kx="0" ky="0" algn="bl" rotWithShape="0" blurRad="101600" dist="38100" dir="5400000">
              <a:srgbClr val="9BB3B8">
                <a:alpha val="3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822960" y="4754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C729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等效球镜（SE）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822960" y="5138928"/>
            <a:ext cx="10545775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13323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SE = 球镜度数 + 1/2 × 柱镜度数。分级须以睫状肌麻痹（散瞳）验光结果为准。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1430000" y="6419088"/>
            <a:ext cx="576072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1100" dirty="0">
                <a:solidFill>
                  <a:srgbClr val="5E707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5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11094415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A9D8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PART 01 · 公共卫生分期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48640"/>
            <a:ext cx="11094415" cy="6858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3323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四期防控分期与关键阈值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81328"/>
            <a:ext cx="11094415" cy="1133856"/>
          </a:xfrm>
          <a:prstGeom prst="roundRect">
            <a:avLst>
              <a:gd name="adj" fmla="val 7258"/>
            </a:avLst>
          </a:prstGeom>
          <a:solidFill>
            <a:srgbClr val="F1F6F7"/>
          </a:solidFill>
          <a:ln w="12700">
            <a:solidFill>
              <a:srgbClr val="D7E2E4"/>
            </a:solidFill>
            <a:prstDash val="solid"/>
          </a:ln>
          <a:effectLst>
            <a:outerShdw sx="100000" sy="100000" kx="0" ky="0" algn="bl" rotWithShape="0" blurRad="101600" dist="38100" dir="5400000">
              <a:srgbClr val="9BB3B8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1719072"/>
            <a:ext cx="658368" cy="658368"/>
          </a:xfrm>
          <a:prstGeom prst="ellipse">
            <a:avLst/>
          </a:prstGeom>
          <a:solidFill>
            <a:srgbClr val="2A9D8F"/>
          </a:solidFill>
          <a:ln/>
        </p:spPr>
      </p:sp>
      <p:sp>
        <p:nvSpPr>
          <p:cNvPr id="6" name="Text 4"/>
          <p:cNvSpPr/>
          <p:nvPr/>
        </p:nvSpPr>
        <p:spPr>
          <a:xfrm>
            <a:off x="804672" y="1719072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645920" y="1609344"/>
            <a:ext cx="2834640" cy="8229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2A9D8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近视前驱期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389120" y="1591056"/>
            <a:ext cx="4297680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13323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尚未近视，但远视储备已低于同龄下限（远视储备不足）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8823960" y="1591056"/>
            <a:ext cx="2788920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5E707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高危窗口：增加户外、减少近距离负荷可延缓/避免发生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" y="2724912"/>
            <a:ext cx="11094415" cy="1133856"/>
          </a:xfrm>
          <a:prstGeom prst="roundRect">
            <a:avLst>
              <a:gd name="adj" fmla="val 7258"/>
            </a:avLst>
          </a:prstGeom>
          <a:solidFill>
            <a:srgbClr val="F1F6F7"/>
          </a:solidFill>
          <a:ln w="12700">
            <a:solidFill>
              <a:srgbClr val="D7E2E4"/>
            </a:solidFill>
            <a:prstDash val="solid"/>
          </a:ln>
          <a:effectLst>
            <a:outerShdw sx="100000" sy="100000" kx="0" ky="0" algn="bl" rotWithShape="0" blurRad="101600" dist="38100" dir="5400000">
              <a:srgbClr val="9BB3B8">
                <a:alpha val="3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804672" y="2962656"/>
            <a:ext cx="658368" cy="65836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2" name="Text 10"/>
          <p:cNvSpPr/>
          <p:nvPr/>
        </p:nvSpPr>
        <p:spPr>
          <a:xfrm>
            <a:off x="804672" y="2962656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645920" y="2852928"/>
            <a:ext cx="2834640" cy="8229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C729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近视发展期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4389120" y="2834640"/>
            <a:ext cx="4297680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13323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已近视，年进展 ＞50 度 或 眼轴 ＞0.20 mm/年，未达高度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8823960" y="2834640"/>
            <a:ext cx="2788920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5E707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防控高度近视关键期：行为干预 + 医生指导下矫正与控制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48640" y="3968496"/>
            <a:ext cx="11094415" cy="1133856"/>
          </a:xfrm>
          <a:prstGeom prst="roundRect">
            <a:avLst>
              <a:gd name="adj" fmla="val 7258"/>
            </a:avLst>
          </a:prstGeom>
          <a:solidFill>
            <a:srgbClr val="F1F6F7"/>
          </a:solidFill>
          <a:ln w="12700">
            <a:solidFill>
              <a:srgbClr val="D7E2E4"/>
            </a:solidFill>
            <a:prstDash val="solid"/>
          </a:ln>
          <a:effectLst>
            <a:outerShdw sx="100000" sy="100000" kx="0" ky="0" algn="bl" rotWithShape="0" blurRad="101600" dist="38100" dir="5400000">
              <a:srgbClr val="9BB3B8">
                <a:alpha val="3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04672" y="4206240"/>
            <a:ext cx="658368" cy="658368"/>
          </a:xfrm>
          <a:prstGeom prst="ellipse">
            <a:avLst/>
          </a:prstGeom>
          <a:solidFill>
            <a:srgbClr val="E4A11B"/>
          </a:solidFill>
          <a:ln/>
        </p:spPr>
      </p:sp>
      <p:sp>
        <p:nvSpPr>
          <p:cNvPr id="18" name="Text 16"/>
          <p:cNvSpPr/>
          <p:nvPr/>
        </p:nvSpPr>
        <p:spPr>
          <a:xfrm>
            <a:off x="804672" y="4206240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3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645920" y="4096512"/>
            <a:ext cx="2834640" cy="8229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E4A11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高度近视期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4389120" y="4078224"/>
            <a:ext cx="4297680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13323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度数 ＞600 度 或 眼轴 ＞26.00 mm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823960" y="4078224"/>
            <a:ext cx="2788920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5E707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定期监测 BCVA、眼轴、眼底，警惕向病理性进展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548640" y="5212080"/>
            <a:ext cx="11094415" cy="1133856"/>
          </a:xfrm>
          <a:prstGeom prst="roundRect">
            <a:avLst>
              <a:gd name="adj" fmla="val 7258"/>
            </a:avLst>
          </a:prstGeom>
          <a:solidFill>
            <a:srgbClr val="FBF1EF"/>
          </a:solidFill>
          <a:ln w="12700">
            <a:solidFill>
              <a:srgbClr val="D7E2E4"/>
            </a:solidFill>
            <a:prstDash val="solid"/>
          </a:ln>
          <a:effectLst>
            <a:outerShdw sx="100000" sy="100000" kx="0" ky="0" algn="bl" rotWithShape="0" blurRad="101600" dist="38100" dir="5400000">
              <a:srgbClr val="9BB3B8">
                <a:alpha val="35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804672" y="5449824"/>
            <a:ext cx="658368" cy="658368"/>
          </a:xfrm>
          <a:prstGeom prst="ellipse">
            <a:avLst/>
          </a:prstGeom>
          <a:solidFill>
            <a:srgbClr val="C34A36"/>
          </a:solidFill>
          <a:ln/>
        </p:spPr>
      </p:sp>
      <p:sp>
        <p:nvSpPr>
          <p:cNvPr id="24" name="Text 22"/>
          <p:cNvSpPr/>
          <p:nvPr/>
        </p:nvSpPr>
        <p:spPr>
          <a:xfrm>
            <a:off x="804672" y="5449824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4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1645920" y="5340096"/>
            <a:ext cx="2834640" cy="8229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C34A3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病理性近视期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4389120" y="5321808"/>
            <a:ext cx="4297680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13323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后巩膜葡萄肿、脉络膜视网膜萎缩、劈裂、裂孔、漆裂纹、CNV 等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8823960" y="5321808"/>
            <a:ext cx="2788920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5E707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视力骤降/视物变形/黑影骤增/固定暗影/持续闪光 → 立即就医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11430000" y="6419088"/>
            <a:ext cx="576072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1100" dirty="0">
                <a:solidFill>
                  <a:srgbClr val="5E707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6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11094415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A9D8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PART 01 · 临床与诊断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48640"/>
            <a:ext cx="11094415" cy="6858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3323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临床表现与诊断要点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C729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诊断应基于病史采集、屈光检查与眼部评估综合判断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1920240"/>
            <a:ext cx="11094415" cy="749808"/>
          </a:xfrm>
          <a:prstGeom prst="roundRect">
            <a:avLst>
              <a:gd name="adj" fmla="val 10976"/>
            </a:avLst>
          </a:prstGeom>
          <a:solidFill>
            <a:srgbClr val="F1F6F7"/>
          </a:solidFill>
          <a:ln w="12700">
            <a:solidFill>
              <a:srgbClr val="D7E2E4"/>
            </a:solidFill>
            <a:prstDash val="solid"/>
          </a:ln>
          <a:effectLst>
            <a:outerShdw sx="100000" sy="100000" kx="0" ky="0" algn="bl" rotWithShape="0" blurRad="101600" dist="38100" dir="5400000">
              <a:srgbClr val="9BB3B8">
                <a:alpha val="3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22960" y="1920240"/>
            <a:ext cx="2377440" cy="7498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C729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视觉症状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3291840" y="1920240"/>
            <a:ext cx="8076895" cy="7498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3323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远视力模糊、近视力多不受影响；初期远视力波动、看远眯眼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2779776"/>
            <a:ext cx="11094415" cy="749808"/>
          </a:xfrm>
          <a:prstGeom prst="roundRect">
            <a:avLst>
              <a:gd name="adj" fmla="val 10976"/>
            </a:avLst>
          </a:prstGeom>
          <a:solidFill>
            <a:srgbClr val="F1F6F7"/>
          </a:solidFill>
          <a:ln w="12700">
            <a:solidFill>
              <a:srgbClr val="D7E2E4"/>
            </a:solidFill>
            <a:prstDash val="solid"/>
          </a:ln>
          <a:effectLst>
            <a:outerShdw sx="100000" sy="100000" kx="0" ky="0" algn="bl" rotWithShape="0" blurRad="101600" dist="38100" dir="5400000">
              <a:srgbClr val="9BB3B8">
                <a:alpha val="3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822960" y="2779776"/>
            <a:ext cx="2377440" cy="7498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C729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屈光检查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3291840" y="2779776"/>
            <a:ext cx="8076895" cy="7498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3323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客观 + 主觉验光综合判定；必要时睫状肌麻痹验光获真实屈光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48640" y="3639312"/>
            <a:ext cx="11094415" cy="749808"/>
          </a:xfrm>
          <a:prstGeom prst="roundRect">
            <a:avLst>
              <a:gd name="adj" fmla="val 10976"/>
            </a:avLst>
          </a:prstGeom>
          <a:solidFill>
            <a:srgbClr val="F1F6F7"/>
          </a:solidFill>
          <a:ln w="12700">
            <a:solidFill>
              <a:srgbClr val="D7E2E4"/>
            </a:solidFill>
            <a:prstDash val="solid"/>
          </a:ln>
          <a:effectLst>
            <a:outerShdw sx="100000" sy="100000" kx="0" ky="0" algn="bl" rotWithShape="0" blurRad="101600" dist="38100" dir="5400000">
              <a:srgbClr val="9BB3B8">
                <a:alpha val="3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822960" y="3639312"/>
            <a:ext cx="2377440" cy="7498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C729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生物参数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3291840" y="3639312"/>
            <a:ext cx="8076895" cy="7498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3323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眼轴长度、角膜曲率、晶状体厚度等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48640" y="4498848"/>
            <a:ext cx="11094415" cy="749808"/>
          </a:xfrm>
          <a:prstGeom prst="roundRect">
            <a:avLst>
              <a:gd name="adj" fmla="val 10976"/>
            </a:avLst>
          </a:prstGeom>
          <a:solidFill>
            <a:srgbClr val="F1F6F7"/>
          </a:solidFill>
          <a:ln w="12700">
            <a:solidFill>
              <a:srgbClr val="D7E2E4"/>
            </a:solidFill>
            <a:prstDash val="solid"/>
          </a:ln>
          <a:effectLst>
            <a:outerShdw sx="100000" sy="100000" kx="0" ky="0" algn="bl" rotWithShape="0" blurRad="101600" dist="38100" dir="5400000">
              <a:srgbClr val="9BB3B8">
                <a:alpha val="3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822960" y="4498848"/>
            <a:ext cx="2377440" cy="7498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C729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综合评估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3291840" y="4498848"/>
            <a:ext cx="8076895" cy="7498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3323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双眼视功能、近视性质、进展速度及相关并发症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548640" y="5358384"/>
            <a:ext cx="11094415" cy="749808"/>
          </a:xfrm>
          <a:prstGeom prst="roundRect">
            <a:avLst>
              <a:gd name="adj" fmla="val 10976"/>
            </a:avLst>
          </a:prstGeom>
          <a:solidFill>
            <a:srgbClr val="FBF1EF"/>
          </a:solidFill>
          <a:ln w="12700">
            <a:solidFill>
              <a:srgbClr val="D7E2E4"/>
            </a:solidFill>
            <a:prstDash val="solid"/>
          </a:ln>
          <a:effectLst>
            <a:outerShdw sx="100000" sy="100000" kx="0" ky="0" algn="bl" rotWithShape="0" blurRad="101600" dist="38100" dir="5400000">
              <a:srgbClr val="9BB3B8">
                <a:alpha val="3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822960" y="5358384"/>
            <a:ext cx="2377440" cy="7498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C34A3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高度近视者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3291840" y="5358384"/>
            <a:ext cx="8076895" cy="7498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3323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除远视力差外，常伴飞蚊症、漂浮物感、闪光感及不同程度眼底改变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1430000" y="6419088"/>
            <a:ext cx="576072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1100" dirty="0">
                <a:solidFill>
                  <a:srgbClr val="5E707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7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11094415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A9D8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PART 02 · 影响因素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48640"/>
            <a:ext cx="11094415" cy="6858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3323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环境与行为因素（可干预）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81328"/>
            <a:ext cx="5387188" cy="1417320"/>
          </a:xfrm>
          <a:prstGeom prst="roundRect">
            <a:avLst>
              <a:gd name="adj" fmla="val 5806"/>
            </a:avLst>
          </a:prstGeom>
          <a:solidFill>
            <a:srgbClr val="F1F6F7"/>
          </a:solidFill>
          <a:ln w="12700">
            <a:solidFill>
              <a:srgbClr val="D7E2E4"/>
            </a:solidFill>
            <a:prstDash val="solid"/>
          </a:ln>
          <a:effectLst>
            <a:outerShdw sx="100000" sy="100000" kx="0" ky="0" algn="bl" rotWithShape="0" blurRad="101600" dist="38100" dir="5400000">
              <a:srgbClr val="9BB3B8">
                <a:alpha val="3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04672" y="1627632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3323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近距离用眼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381348" y="1645920"/>
            <a:ext cx="132588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C34A3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危险因素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04672" y="2011680"/>
            <a:ext cx="4875124" cy="8229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5E707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单次 30–40 分钟休息 10–20 分钟；阅读距离 ≥33cm。电视≥4×对角线、电脑≥50cm、手机≥40cm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255868" y="1481328"/>
            <a:ext cx="5387188" cy="1417320"/>
          </a:xfrm>
          <a:prstGeom prst="roundRect">
            <a:avLst>
              <a:gd name="adj" fmla="val 5806"/>
            </a:avLst>
          </a:prstGeom>
          <a:solidFill>
            <a:srgbClr val="EAF5F1"/>
          </a:solidFill>
          <a:ln w="12700">
            <a:solidFill>
              <a:srgbClr val="D7E2E4"/>
            </a:solidFill>
            <a:prstDash val="solid"/>
          </a:ln>
          <a:effectLst>
            <a:outerShdw sx="100000" sy="100000" kx="0" ky="0" algn="bl" rotWithShape="0" blurRad="101600" dist="38100" dir="5400000">
              <a:srgbClr val="9BB3B8">
                <a:alpha val="3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511900" y="1627632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3323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户外活动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0088575" y="1645920"/>
            <a:ext cx="132588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2A9D8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保护因素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511900" y="2011680"/>
            <a:ext cx="4875124" cy="8229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5E707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学龄前每日 3 小时；中小学生 2 小时（或每周 ≥14 小时）。预防发生并延缓进展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48640" y="3081528"/>
            <a:ext cx="5387188" cy="1417320"/>
          </a:xfrm>
          <a:prstGeom prst="roundRect">
            <a:avLst>
              <a:gd name="adj" fmla="val 5806"/>
            </a:avLst>
          </a:prstGeom>
          <a:solidFill>
            <a:srgbClr val="F1F6F7"/>
          </a:solidFill>
          <a:ln w="12700">
            <a:solidFill>
              <a:srgbClr val="D7E2E4"/>
            </a:solidFill>
            <a:prstDash val="solid"/>
          </a:ln>
          <a:effectLst>
            <a:outerShdw sx="100000" sy="100000" kx="0" ky="0" algn="bl" rotWithShape="0" blurRad="101600" dist="38100" dir="5400000">
              <a:srgbClr val="9BB3B8">
                <a:alpha val="3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804672" y="3227832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3323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读写习惯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381348" y="3246120"/>
            <a:ext cx="132588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C34A3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危险因素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804672" y="3611880"/>
            <a:ext cx="4875124" cy="8229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5E707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一尺（33cm）· 一拳（6–7cm）· 一寸（3.3cm）；坐姿端正，不在行走/乘车/躺卧时阅读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255868" y="3081528"/>
            <a:ext cx="5387188" cy="1417320"/>
          </a:xfrm>
          <a:prstGeom prst="roundRect">
            <a:avLst>
              <a:gd name="adj" fmla="val 5806"/>
            </a:avLst>
          </a:prstGeom>
          <a:solidFill>
            <a:srgbClr val="F1F6F7"/>
          </a:solidFill>
          <a:ln w="12700">
            <a:solidFill>
              <a:srgbClr val="D7E2E4"/>
            </a:solidFill>
            <a:prstDash val="solid"/>
          </a:ln>
          <a:effectLst>
            <a:outerShdw sx="100000" sy="100000" kx="0" ky="0" algn="bl" rotWithShape="0" blurRad="101600" dist="38100" dir="5400000">
              <a:srgbClr val="9BB3B8">
                <a:alpha val="3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511900" y="3227832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3323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采光照明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0088575" y="3246120"/>
            <a:ext cx="132588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C34A3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危险因素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511900" y="3611880"/>
            <a:ext cx="4875124" cy="8229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5E707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桌面平均照度 ≥300 lux；夜间入睡卧室 ＜10 lux（理想全暗）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548640" y="4681728"/>
            <a:ext cx="11094415" cy="1234440"/>
          </a:xfrm>
          <a:prstGeom prst="roundRect">
            <a:avLst>
              <a:gd name="adj" fmla="val 6667"/>
            </a:avLst>
          </a:prstGeom>
          <a:solidFill>
            <a:srgbClr val="F1F6F7"/>
          </a:solidFill>
          <a:ln w="12700">
            <a:solidFill>
              <a:srgbClr val="D7E2E4"/>
            </a:solidFill>
            <a:prstDash val="solid"/>
          </a:ln>
          <a:effectLst>
            <a:outerShdw sx="100000" sy="100000" kx="0" ky="0" algn="bl" rotWithShape="0" blurRad="101600" dist="38100" dir="5400000">
              <a:srgbClr val="9BB3B8">
                <a:alpha val="35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804672" y="4818888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3323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其他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3017520" y="4837176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E4A11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需关注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804672" y="5230368"/>
            <a:ext cx="10582351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5E707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不科学使用电子产品、夜间光暴露、睡眠不足、节律紊乱、高糖/营养不均衡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11430000" y="6419088"/>
            <a:ext cx="576072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1100" dirty="0">
                <a:solidFill>
                  <a:srgbClr val="5E707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8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11094415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A9D8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PART 02 · 影响因素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48640"/>
            <a:ext cx="11094415" cy="6858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3323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遗传因素与基因-环境交互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5394960" cy="4480560"/>
          </a:xfrm>
          <a:prstGeom prst="roundRect">
            <a:avLst>
              <a:gd name="adj" fmla="val 1837"/>
            </a:avLst>
          </a:prstGeom>
          <a:solidFill>
            <a:srgbClr val="F1F6F7"/>
          </a:solidFill>
          <a:ln w="12700">
            <a:solidFill>
              <a:srgbClr val="D7E2E4"/>
            </a:solidFill>
            <a:prstDash val="solid"/>
          </a:ln>
          <a:effectLst>
            <a:outerShdw sx="100000" sy="100000" kx="0" ky="0" algn="bl" rotWithShape="0" blurRad="101600" dist="38100" dir="5400000">
              <a:srgbClr val="9BB3B8">
                <a:alpha val="3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04672" y="173736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C729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遗传因素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804672" y="2194560"/>
            <a:ext cx="4892040" cy="36576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3323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低中度近视：受环境与遗传共同影响。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3323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父母屈光状态与子代近视风险显著相关，风险随父母近视度数升高而增加。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3323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高度近视——尤其早发性高度近视与病理性近视，遗传作用更为显著。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309360" y="1554480"/>
            <a:ext cx="5330952" cy="4480560"/>
          </a:xfrm>
          <a:prstGeom prst="roundRect">
            <a:avLst>
              <a:gd name="adj" fmla="val 1837"/>
            </a:avLst>
          </a:prstGeom>
          <a:solidFill>
            <a:srgbClr val="FFFFFF"/>
          </a:solidFill>
          <a:ln w="12700">
            <a:solidFill>
              <a:srgbClr val="D7E2E4"/>
            </a:solidFill>
            <a:prstDash val="solid"/>
          </a:ln>
          <a:effectLst>
            <a:outerShdw sx="100000" sy="100000" kx="0" ky="0" algn="bl" rotWithShape="0" blurRad="101600" dist="38100" dir="5400000">
              <a:srgbClr val="9BB3B8">
                <a:alpha val="3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565392" y="173736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C729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基因-环境交互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6565392" y="2194560"/>
            <a:ext cx="4892040" cy="21031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3323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风险位点（GJD2、ZMAT4、RBFOX1、VIPR2）与环境因素（教育、近距离工作、户外时长）存在交互效应。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3323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携带风险基因型者，若长期近距离负荷过重、户外不足，易感性显著升高。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565392" y="4434840"/>
            <a:ext cx="4828032" cy="1417320"/>
          </a:xfrm>
          <a:prstGeom prst="roundRect">
            <a:avLst>
              <a:gd name="adj" fmla="val 5806"/>
            </a:avLst>
          </a:prstGeom>
          <a:solidFill>
            <a:srgbClr val="FBF1EF"/>
          </a:solidFill>
          <a:ln w="12700">
            <a:solidFill>
              <a:srgbClr val="D7E2E4"/>
            </a:solidFill>
            <a:prstDash val="solid"/>
          </a:ln>
          <a:effectLst>
            <a:outerShdw sx="100000" sy="100000" kx="0" ky="0" algn="bl" rotWithShape="0" blurRad="101600" dist="38100" dir="5400000">
              <a:srgbClr val="9BB3B8">
                <a:alpha val="3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784848" y="4572000"/>
            <a:ext cx="438912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C34A3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重点人群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784848" y="4919472"/>
            <a:ext cx="4434840" cy="8686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13323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父母高度近视或携带致病基因的儿童：严格控制近距离用眼、保证每日充足户外，最大限度减少危险因素暴露。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11430000" y="6419088"/>
            <a:ext cx="576072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1100" dirty="0">
                <a:solidFill>
                  <a:srgbClr val="5E707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9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C3A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11094415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A9D8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PART 02 · 预防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48640"/>
            <a:ext cx="11094415" cy="6858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预防要点 · 关键数字速记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3484778" cy="1828800"/>
          </a:xfrm>
          <a:prstGeom prst="roundRect">
            <a:avLst>
              <a:gd name="adj" fmla="val 4500"/>
            </a:avLst>
          </a:prstGeom>
          <a:solidFill>
            <a:srgbClr val="10454F"/>
          </a:solidFill>
          <a:ln w="12700">
            <a:solidFill>
              <a:srgbClr val="1E5A6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1783080"/>
            <a:ext cx="3210458" cy="6858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E4A11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3h / 2h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685800" y="2532888"/>
            <a:ext cx="3210458" cy="7772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50" dirty="0">
                <a:solidFill>
                  <a:srgbClr val="D8E8E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学龄前每日户外 3 小时；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dirty="0">
                <a:solidFill>
                  <a:srgbClr val="D8E8E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中小学生 2 小时（周 ≥14h）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353458" y="1600200"/>
            <a:ext cx="3484778" cy="1828800"/>
          </a:xfrm>
          <a:prstGeom prst="roundRect">
            <a:avLst>
              <a:gd name="adj" fmla="val 4500"/>
            </a:avLst>
          </a:prstGeom>
          <a:solidFill>
            <a:srgbClr val="10454F"/>
          </a:solidFill>
          <a:ln w="12700">
            <a:solidFill>
              <a:srgbClr val="1E5A6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490618" y="1783080"/>
            <a:ext cx="3210458" cy="6858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E4A11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30–40 min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4490618" y="2532888"/>
            <a:ext cx="3210458" cy="7772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50" dirty="0">
                <a:solidFill>
                  <a:srgbClr val="D8E8E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单次近距离用眼上限，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dirty="0">
                <a:solidFill>
                  <a:srgbClr val="D8E8E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之后休息 10–20 分钟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8158277" y="1600200"/>
            <a:ext cx="3484778" cy="1828800"/>
          </a:xfrm>
          <a:prstGeom prst="roundRect">
            <a:avLst>
              <a:gd name="adj" fmla="val 4500"/>
            </a:avLst>
          </a:prstGeom>
          <a:solidFill>
            <a:srgbClr val="10454F"/>
          </a:solidFill>
          <a:ln w="12700">
            <a:solidFill>
              <a:srgbClr val="1E5A6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95437" y="1783080"/>
            <a:ext cx="3210458" cy="6858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E4A11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33 cm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8295437" y="2532888"/>
            <a:ext cx="3210458" cy="7772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50" dirty="0">
                <a:solidFill>
                  <a:srgbClr val="D8E8E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书本离眼一尺；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dirty="0">
                <a:solidFill>
                  <a:srgbClr val="D8E8E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阅读距离下限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48640" y="3703320"/>
            <a:ext cx="3484778" cy="1828800"/>
          </a:xfrm>
          <a:prstGeom prst="roundRect">
            <a:avLst>
              <a:gd name="adj" fmla="val 4500"/>
            </a:avLst>
          </a:prstGeom>
          <a:solidFill>
            <a:srgbClr val="10454F"/>
          </a:solidFill>
          <a:ln w="12700">
            <a:solidFill>
              <a:srgbClr val="1E5A6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85800" y="3886200"/>
            <a:ext cx="3210458" cy="6858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E4A11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≥300 lux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685800" y="4636008"/>
            <a:ext cx="3210458" cy="7772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50" dirty="0">
                <a:solidFill>
                  <a:srgbClr val="D8E8E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桌面平均照度；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dirty="0">
                <a:solidFill>
                  <a:srgbClr val="D8E8E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夜间卧室 ＜10 lux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4353458" y="3703320"/>
            <a:ext cx="3484778" cy="1828800"/>
          </a:xfrm>
          <a:prstGeom prst="roundRect">
            <a:avLst>
              <a:gd name="adj" fmla="val 4500"/>
            </a:avLst>
          </a:prstGeom>
          <a:solidFill>
            <a:srgbClr val="10454F"/>
          </a:solidFill>
          <a:ln w="12700">
            <a:solidFill>
              <a:srgbClr val="1E5A6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490618" y="3886200"/>
            <a:ext cx="3210458" cy="6858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E4A11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1尺1拳1寸</a:t>
            </a:r>
            <a:endParaRPr lang="en-US" sz="3000" dirty="0"/>
          </a:p>
        </p:txBody>
      </p:sp>
      <p:sp>
        <p:nvSpPr>
          <p:cNvPr id="18" name="Text 16"/>
          <p:cNvSpPr/>
          <p:nvPr/>
        </p:nvSpPr>
        <p:spPr>
          <a:xfrm>
            <a:off x="4490618" y="4636008"/>
            <a:ext cx="3210458" cy="7772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50" dirty="0">
                <a:solidFill>
                  <a:srgbClr val="D8E8E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眼距书本一尺、胸距桌一拳、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dirty="0">
                <a:solidFill>
                  <a:srgbClr val="D8E8E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指距笔尖一寸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8158277" y="3703320"/>
            <a:ext cx="3484778" cy="1828800"/>
          </a:xfrm>
          <a:prstGeom prst="roundRect">
            <a:avLst>
              <a:gd name="adj" fmla="val 4500"/>
            </a:avLst>
          </a:prstGeom>
          <a:solidFill>
            <a:srgbClr val="10454F"/>
          </a:solidFill>
          <a:ln w="12700">
            <a:solidFill>
              <a:srgbClr val="1E5A6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295437" y="3886200"/>
            <a:ext cx="3210458" cy="6858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E4A11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4×/50/40</a:t>
            </a:r>
            <a:endParaRPr lang="en-US" sz="3000" dirty="0"/>
          </a:p>
        </p:txBody>
      </p:sp>
      <p:sp>
        <p:nvSpPr>
          <p:cNvPr id="21" name="Text 19"/>
          <p:cNvSpPr/>
          <p:nvPr/>
        </p:nvSpPr>
        <p:spPr>
          <a:xfrm>
            <a:off x="8295437" y="4636008"/>
            <a:ext cx="3210458" cy="7772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50" dirty="0">
                <a:solidFill>
                  <a:srgbClr val="D8E8E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电视≥4倍对角线、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dirty="0">
                <a:solidFill>
                  <a:srgbClr val="D8E8E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电脑≥50cm、手机≥40cm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11430000" y="6419088"/>
            <a:ext cx="576072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1100" dirty="0">
                <a:solidFill>
                  <a:srgbClr val="9BBFC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10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11094415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A9D8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PART 03 · 相关检查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48640"/>
            <a:ext cx="11094415" cy="6858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3323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筛查、建档与一般检查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81328"/>
            <a:ext cx="11094415" cy="1188720"/>
          </a:xfrm>
          <a:prstGeom prst="roundRect">
            <a:avLst>
              <a:gd name="adj" fmla="val 6923"/>
            </a:avLst>
          </a:prstGeom>
          <a:solidFill>
            <a:srgbClr val="EAF5F1"/>
          </a:solidFill>
          <a:ln w="12700">
            <a:solidFill>
              <a:srgbClr val="D7E2E4"/>
            </a:solidFill>
            <a:prstDash val="solid"/>
          </a:ln>
          <a:effectLst>
            <a:outerShdw sx="100000" sy="100000" kx="0" ky="0" algn="bl" rotWithShape="0" blurRad="101600" dist="38100" dir="5400000">
              <a:srgbClr val="9BB3B8">
                <a:alpha val="3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04672" y="160020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2A9D8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建档管理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04672" y="1965960"/>
            <a:ext cx="10582351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3323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24 月龄起屈光筛查；自幼儿园起定期查视力、屈光度、眼轴、角膜曲率并监测眼底；建立视力与屈光发育档案，分档管理、个性化干预；高度近视家族史者重点随访。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548640" y="2880360"/>
            <a:ext cx="11094415" cy="932688"/>
          </a:xfrm>
          <a:prstGeom prst="roundRect">
            <a:avLst>
              <a:gd name="adj" fmla="val 8824"/>
            </a:avLst>
          </a:prstGeom>
          <a:solidFill>
            <a:srgbClr val="F1F6F7"/>
          </a:solidFill>
          <a:ln w="12700">
            <a:solidFill>
              <a:srgbClr val="D7E2E4"/>
            </a:solidFill>
            <a:prstDash val="solid"/>
          </a:ln>
          <a:effectLst>
            <a:outerShdw sx="100000" sy="100000" kx="0" ky="0" algn="bl" rotWithShape="0" blurRad="101600" dist="38100" dir="5400000">
              <a:srgbClr val="9BB3B8">
                <a:alpha val="3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22960" y="2880360"/>
            <a:ext cx="2194560" cy="93268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C729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视力检查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3200400" y="2880360"/>
            <a:ext cx="8168335" cy="93268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3323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早期发现首选。5 米距离、中等光亮；先右后左。正常下限：3岁 0.5 / 4–5岁 0.6 / 6岁及以上 0.7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548640" y="3922776"/>
            <a:ext cx="11094415" cy="932688"/>
          </a:xfrm>
          <a:prstGeom prst="roundRect">
            <a:avLst>
              <a:gd name="adj" fmla="val 8824"/>
            </a:avLst>
          </a:prstGeom>
          <a:solidFill>
            <a:srgbClr val="F1F6F7"/>
          </a:solidFill>
          <a:ln w="12700">
            <a:solidFill>
              <a:srgbClr val="D7E2E4"/>
            </a:solidFill>
            <a:prstDash val="solid"/>
          </a:ln>
          <a:effectLst>
            <a:outerShdw sx="100000" sy="100000" kx="0" ky="0" algn="bl" rotWithShape="0" blurRad="101600" dist="38100" dir="5400000">
              <a:srgbClr val="9BB3B8">
                <a:alpha val="3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822960" y="3922776"/>
            <a:ext cx="2194560" cy="93268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C729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裂隙灯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3200400" y="3922776"/>
            <a:ext cx="8168335" cy="93268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3323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眼睑、结膜、角膜、虹膜、前房、瞳孔、晶状体等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548640" y="4965192"/>
            <a:ext cx="11094415" cy="932688"/>
          </a:xfrm>
          <a:prstGeom prst="roundRect">
            <a:avLst>
              <a:gd name="adj" fmla="val 8824"/>
            </a:avLst>
          </a:prstGeom>
          <a:solidFill>
            <a:srgbClr val="F1F6F7"/>
          </a:solidFill>
          <a:ln w="12700">
            <a:solidFill>
              <a:srgbClr val="D7E2E4"/>
            </a:solidFill>
            <a:prstDash val="solid"/>
          </a:ln>
          <a:effectLst>
            <a:outerShdw sx="100000" sy="100000" kx="0" ky="0" algn="bl" rotWithShape="0" blurRad="101600" dist="38100" dir="5400000">
              <a:srgbClr val="9BB3B8">
                <a:alpha val="3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822960" y="4965192"/>
            <a:ext cx="2194560" cy="93268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C729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眼位检查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3200400" y="4965192"/>
            <a:ext cx="8168335" cy="93268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3323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是否伴斜视及斜视度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11430000" y="6419088"/>
            <a:ext cx="576072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1100" dirty="0">
                <a:solidFill>
                  <a:srgbClr val="5E707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11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11094415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A9D8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PART 03 · 相关检查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48640"/>
            <a:ext cx="11094415" cy="6858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3323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眼轴长度：发育参考与增长界值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72768"/>
            <a:ext cx="3454298" cy="1554480"/>
          </a:xfrm>
          <a:prstGeom prst="roundRect">
            <a:avLst>
              <a:gd name="adj" fmla="val 5294"/>
            </a:avLst>
          </a:prstGeom>
          <a:solidFill>
            <a:srgbClr val="F1F6F7"/>
          </a:solidFill>
          <a:ln w="12700">
            <a:solidFill>
              <a:srgbClr val="D7E2E4"/>
            </a:solidFill>
            <a:prstDash val="solid"/>
          </a:ln>
          <a:effectLst>
            <a:outerShdw sx="100000" sy="100000" kx="0" ky="0" algn="bl" rotWithShape="0" blurRad="101600" dist="38100" dir="5400000">
              <a:srgbClr val="9BB3B8">
                <a:alpha val="3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31520" y="1737360"/>
            <a:ext cx="3088538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3323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出生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731520" y="2148840"/>
            <a:ext cx="3088538" cy="8229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C729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≈ 16 mm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4368698" y="1572768"/>
            <a:ext cx="3454298" cy="1554480"/>
          </a:xfrm>
          <a:prstGeom prst="roundRect">
            <a:avLst>
              <a:gd name="adj" fmla="val 5294"/>
            </a:avLst>
          </a:prstGeom>
          <a:solidFill>
            <a:srgbClr val="F1F6F7"/>
          </a:solidFill>
          <a:ln w="12700">
            <a:solidFill>
              <a:srgbClr val="D7E2E4"/>
            </a:solidFill>
            <a:prstDash val="solid"/>
          </a:ln>
          <a:effectLst>
            <a:outerShdw sx="100000" sy="100000" kx="0" ky="0" algn="bl" rotWithShape="0" blurRad="101600" dist="38100" dir="5400000">
              <a:srgbClr val="9BB3B8">
                <a:alpha val="3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551578" y="1737360"/>
            <a:ext cx="3088538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3323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6 岁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4551578" y="2148840"/>
            <a:ext cx="3088538" cy="8229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C729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≈ 22.5 mm</a:t>
            </a:r>
            <a:endParaRPr lang="en-US" sz="3000" dirty="0"/>
          </a:p>
        </p:txBody>
      </p:sp>
      <p:sp>
        <p:nvSpPr>
          <p:cNvPr id="10" name="Shape 8"/>
          <p:cNvSpPr/>
          <p:nvPr/>
        </p:nvSpPr>
        <p:spPr>
          <a:xfrm>
            <a:off x="8188757" y="1572768"/>
            <a:ext cx="3454298" cy="1554480"/>
          </a:xfrm>
          <a:prstGeom prst="roundRect">
            <a:avLst>
              <a:gd name="adj" fmla="val 5294"/>
            </a:avLst>
          </a:prstGeom>
          <a:solidFill>
            <a:srgbClr val="F1F6F7"/>
          </a:solidFill>
          <a:ln w="12700">
            <a:solidFill>
              <a:srgbClr val="D7E2E4"/>
            </a:solidFill>
            <a:prstDash val="solid"/>
          </a:ln>
          <a:effectLst>
            <a:outerShdw sx="100000" sy="100000" kx="0" ky="0" algn="bl" rotWithShape="0" blurRad="101600" dist="38100" dir="5400000">
              <a:srgbClr val="9BB3B8">
                <a:alpha val="3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8371637" y="1737360"/>
            <a:ext cx="3088538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3323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15 岁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8371637" y="2148840"/>
            <a:ext cx="3088538" cy="8229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C729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≈ 23.4 mm</a:t>
            </a:r>
            <a:endParaRPr lang="en-US" sz="3000" dirty="0"/>
          </a:p>
        </p:txBody>
      </p:sp>
      <p:sp>
        <p:nvSpPr>
          <p:cNvPr id="13" name="Shape 11"/>
          <p:cNvSpPr/>
          <p:nvPr/>
        </p:nvSpPr>
        <p:spPr>
          <a:xfrm>
            <a:off x="548640" y="3401568"/>
            <a:ext cx="11094415" cy="246888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D7E2E4"/>
            </a:solidFill>
            <a:prstDash val="solid"/>
          </a:ln>
          <a:effectLst>
            <a:outerShdw sx="100000" sy="100000" kx="0" ky="0" algn="bl" rotWithShape="0" blurRad="101600" dist="38100" dir="5400000">
              <a:srgbClr val="9BB3B8">
                <a:alpha val="3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822960" y="3566160"/>
            <a:ext cx="10545775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C729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生理性增长参考界值（超出提示进展风险高，需重点监测干预）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22960" y="3977640"/>
            <a:ext cx="10545775" cy="18288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13323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6–10 岁：平均每年 ≤ 0.2 mm（或半年 ≤ 0.1 mm）；6 岁以下可略高于此值</a:t>
            </a:r>
            <a:endParaRPr lang="en-US" sz="14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13323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10 岁以上：应低于上述值</a:t>
            </a:r>
            <a:endParaRPr lang="en-US" sz="14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13323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12 岁以上青少年：每年 ≤ 0.1 mm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5E707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需结合年龄与屈光状态综合判断，鉴别生理性与病理性增长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1430000" y="6419088"/>
            <a:ext cx="576072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1100" dirty="0">
                <a:solidFill>
                  <a:srgbClr val="5E707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12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11094415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A9D8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PART 03 · 相关检查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48640"/>
            <a:ext cx="11094415" cy="6858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3323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眼底检查与散瞳指征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5394960" cy="4480560"/>
          </a:xfrm>
          <a:prstGeom prst="roundRect">
            <a:avLst>
              <a:gd name="adj" fmla="val 1837"/>
            </a:avLst>
          </a:prstGeom>
          <a:solidFill>
            <a:srgbClr val="F1F6F7"/>
          </a:solidFill>
          <a:ln w="12700">
            <a:solidFill>
              <a:srgbClr val="D7E2E4"/>
            </a:solidFill>
            <a:prstDash val="solid"/>
          </a:ln>
          <a:effectLst>
            <a:outerShdw sx="100000" sy="100000" kx="0" ky="0" algn="bl" rotWithShape="0" blurRad="101600" dist="38100" dir="5400000">
              <a:srgbClr val="9BB3B8">
                <a:alpha val="3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04672" y="1719072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C729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方法与标准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04672" y="2148840"/>
            <a:ext cx="4892040" cy="37490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13323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彩色眼底照相、直接/间接检眼镜、前置镜等。</a:t>
            </a:r>
            <a:endParaRPr lang="en-US" sz="13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13323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彩照标准：以视盘-黄斑中心连线中点为拍摄中心，曝光适中、对焦清晰。</a:t>
            </a:r>
            <a:endParaRPr lang="en-US" sz="1350" dirty="0"/>
          </a:p>
          <a:p>
            <a:pPr marL="342900" indent="-342900">
              <a:buSzPct val="100000"/>
              <a:buChar char="•"/>
            </a:pPr>
            <a:r>
              <a:rPr lang="en-US" sz="1350" dirty="0">
                <a:solidFill>
                  <a:srgbClr val="13323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＞300 度或已有近视性眼底病变（视盘旁萎缩弧、豹纹状眼底、Fuchs 斑、后巩膜葡萄肿、周边病变）者定期监测。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309360" y="1554480"/>
            <a:ext cx="5330952" cy="4480560"/>
          </a:xfrm>
          <a:prstGeom prst="roundRect">
            <a:avLst>
              <a:gd name="adj" fmla="val 1837"/>
            </a:avLst>
          </a:prstGeom>
          <a:solidFill>
            <a:srgbClr val="FBF1EF"/>
          </a:solidFill>
          <a:ln w="12700">
            <a:solidFill>
              <a:srgbClr val="D7E2E4"/>
            </a:solidFill>
            <a:prstDash val="solid"/>
          </a:ln>
          <a:effectLst>
            <a:outerShdw sx="100000" sy="100000" kx="0" ky="0" algn="bl" rotWithShape="0" blurRad="101600" dist="38100" dir="5400000">
              <a:srgbClr val="9BB3B8">
                <a:alpha val="3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565392" y="1719072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C34A3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散瞳眼底检查重点指征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565392" y="2148840"/>
            <a:ext cx="4892040" cy="37490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13323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视力低下、矫正不达同龄下限者</a:t>
            </a:r>
            <a:endParaRPr lang="en-US" sz="13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13323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高度近视者</a:t>
            </a:r>
            <a:endParaRPr lang="en-US" sz="13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13323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突发漂浮物感或闪光感者</a:t>
            </a:r>
            <a:endParaRPr lang="en-US" sz="13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13323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屈光介质混浊、玻璃体色素颗粒/混浊，或高度近视合并视网膜脱离者</a:t>
            </a:r>
            <a:endParaRPr lang="en-US" sz="1350" dirty="0"/>
          </a:p>
          <a:p>
            <a:pPr marL="342900" indent="-342900">
              <a:buSzPct val="100000"/>
              <a:buChar char="•"/>
            </a:pPr>
            <a:r>
              <a:rPr lang="en-US" sz="1350" b="1" dirty="0">
                <a:solidFill>
                  <a:srgbClr val="13323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单眼确诊视网膜变性/裂孔/脱离，必须详查对侧眼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11430000" y="6419088"/>
            <a:ext cx="576072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1100" dirty="0">
                <a:solidFill>
                  <a:srgbClr val="5E707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13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11094415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A9D8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PART 03 · 相关检查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48640"/>
            <a:ext cx="11094415" cy="6858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3323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睫状肌麻痹验光（诊断金标准）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1094415" cy="6858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3323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12 岁以下（尤其初次验光），或伴远视、斜视、弱视、较大散光，或调节不稳定/矫正视力异常难以解释者，应行睫状肌麻痹验光。结果为制定方案的重要依据，但并非最终处方。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240280"/>
            <a:ext cx="3454298" cy="3246120"/>
          </a:xfrm>
          <a:prstGeom prst="roundRect">
            <a:avLst>
              <a:gd name="adj" fmla="val 2535"/>
            </a:avLst>
          </a:prstGeom>
          <a:solidFill>
            <a:srgbClr val="F1F6F7"/>
          </a:solidFill>
          <a:ln w="12700">
            <a:solidFill>
              <a:srgbClr val="D7E2E4"/>
            </a:solidFill>
            <a:prstDash val="solid"/>
          </a:ln>
          <a:effectLst>
            <a:outerShdw sx="100000" sy="100000" kx="0" ky="0" algn="bl" rotWithShape="0" blurRad="101600" dist="38100" dir="5400000">
              <a:srgbClr val="9BB3B8">
                <a:alpha val="3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31520" y="2423160"/>
            <a:ext cx="3088538" cy="8229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A9D8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1% 阿托品</a:t>
            </a:r>
            <a:endParaRPr lang="en-US" sz="1700" dirty="0"/>
          </a:p>
          <a:p>
            <a:pPr algn="ctr" indent="0" marL="0">
              <a:buNone/>
            </a:pPr>
            <a:r>
              <a:rPr lang="en-US" sz="1700" b="1" dirty="0">
                <a:solidFill>
                  <a:srgbClr val="2A9D8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眼膏/凝胶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777240" y="3337560"/>
            <a:ext cx="2997098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5E707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特点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77240" y="3611880"/>
            <a:ext cx="2997098" cy="7772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3323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麻痹最强、持续久，瞳孔恢复慢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77240" y="4434840"/>
            <a:ext cx="2997098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5E707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适用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77240" y="4709160"/>
            <a:ext cx="2997098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3323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＜6 岁；远视/斜视/弱视优先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368698" y="2240280"/>
            <a:ext cx="3454298" cy="3246120"/>
          </a:xfrm>
          <a:prstGeom prst="roundRect">
            <a:avLst>
              <a:gd name="adj" fmla="val 2535"/>
            </a:avLst>
          </a:prstGeom>
          <a:solidFill>
            <a:srgbClr val="F1F6F7"/>
          </a:solidFill>
          <a:ln w="12700">
            <a:solidFill>
              <a:srgbClr val="D7E2E4"/>
            </a:solidFill>
            <a:prstDash val="solid"/>
          </a:ln>
          <a:effectLst>
            <a:outerShdw sx="100000" sy="100000" kx="0" ky="0" algn="bl" rotWithShape="0" blurRad="101600" dist="38100" dir="5400000">
              <a:srgbClr val="9BB3B8">
                <a:alpha val="3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551578" y="2423160"/>
            <a:ext cx="3088538" cy="8229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C729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1% 环喷托酯</a:t>
            </a:r>
            <a:endParaRPr lang="en-US" sz="1700" dirty="0"/>
          </a:p>
          <a:p>
            <a:pPr algn="ctr" indent="0" marL="0">
              <a:buNone/>
            </a:pPr>
            <a:r>
              <a:rPr lang="en-US" sz="1700" b="1" dirty="0">
                <a:solidFill>
                  <a:srgbClr val="1C729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滴眼液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4597298" y="3337560"/>
            <a:ext cx="2997098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5E707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特点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97298" y="3611880"/>
            <a:ext cx="2997098" cy="7772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3323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麻痹次之，作用时间较短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597298" y="4434840"/>
            <a:ext cx="2997098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5E707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适用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597298" y="4709160"/>
            <a:ext cx="2997098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3323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不耐受阿托品者替代；7–12 岁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8188757" y="2240280"/>
            <a:ext cx="3454298" cy="3246120"/>
          </a:xfrm>
          <a:prstGeom prst="roundRect">
            <a:avLst>
              <a:gd name="adj" fmla="val 2535"/>
            </a:avLst>
          </a:prstGeom>
          <a:solidFill>
            <a:srgbClr val="F1F6F7"/>
          </a:solidFill>
          <a:ln w="12700">
            <a:solidFill>
              <a:srgbClr val="D7E2E4"/>
            </a:solidFill>
            <a:prstDash val="solid"/>
          </a:ln>
          <a:effectLst>
            <a:outerShdw sx="100000" sy="100000" kx="0" ky="0" algn="bl" rotWithShape="0" blurRad="101600" dist="38100" dir="5400000">
              <a:srgbClr val="9BB3B8">
                <a:alpha val="3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8371637" y="2423160"/>
            <a:ext cx="3088538" cy="8229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E4A11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复方托吡卡胺</a:t>
            </a:r>
            <a:endParaRPr lang="en-US" sz="1700" dirty="0"/>
          </a:p>
          <a:p>
            <a:pPr algn="ctr" indent="0" marL="0">
              <a:buNone/>
            </a:pPr>
            <a:r>
              <a:rPr lang="en-US" sz="1700" b="1" dirty="0">
                <a:solidFill>
                  <a:srgbClr val="E4A11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滴眼液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8417357" y="3337560"/>
            <a:ext cx="2997098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5E707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特点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8417357" y="3611880"/>
            <a:ext cx="2997098" cy="7772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3323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持续短、麻痹最弱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8417357" y="4434840"/>
            <a:ext cx="2997098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5E707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适用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8417357" y="4709160"/>
            <a:ext cx="2997098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3323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12–40 岁；也可用于 7–12 岁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48640" y="5623560"/>
            <a:ext cx="11094415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i="1" dirty="0">
                <a:solidFill>
                  <a:srgbClr val="5E707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用药前排除禁忌证，告知畏光/视物模糊等及持续时间；用药后避免强光、指导安全用眼。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1430000" y="6419088"/>
            <a:ext cx="576072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1100" dirty="0">
                <a:solidFill>
                  <a:srgbClr val="5E707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14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11094415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A9D8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PART 03 · 相关检查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48640"/>
            <a:ext cx="11094415" cy="6858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3323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远视储备参考与视功能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C729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远视储备参考标准（睫状肌麻痹后）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1828800"/>
            <a:ext cx="2567864" cy="1874520"/>
          </a:xfrm>
          <a:prstGeom prst="roundRect">
            <a:avLst>
              <a:gd name="adj" fmla="val 4390"/>
            </a:avLst>
          </a:prstGeom>
          <a:solidFill>
            <a:srgbClr val="F1F6F7"/>
          </a:solidFill>
          <a:ln w="12700">
            <a:solidFill>
              <a:srgbClr val="D7E2E4"/>
            </a:solidFill>
            <a:prstDash val="solid"/>
          </a:ln>
          <a:effectLst>
            <a:outerShdw sx="100000" sy="100000" kx="0" ky="0" algn="bl" rotWithShape="0" blurRad="101600" dist="38100" dir="5400000">
              <a:srgbClr val="9BB3B8">
                <a:alpha val="3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40080" y="1956816"/>
            <a:ext cx="2384984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3323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6 岁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40080" y="2322576"/>
            <a:ext cx="2384984" cy="53035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1C729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≈ +1.38 D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621792" y="2889504"/>
            <a:ext cx="2421560" cy="71323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5E707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约 138 度</a:t>
            </a:r>
            <a:endParaRPr lang="en-US" sz="105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5E707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（另一参考 ≈150 度 / +1.50 D）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390824" y="1828800"/>
            <a:ext cx="2567864" cy="1874520"/>
          </a:xfrm>
          <a:prstGeom prst="roundRect">
            <a:avLst>
              <a:gd name="adj" fmla="val 4390"/>
            </a:avLst>
          </a:prstGeom>
          <a:solidFill>
            <a:srgbClr val="F1F6F7"/>
          </a:solidFill>
          <a:ln w="12700">
            <a:solidFill>
              <a:srgbClr val="D7E2E4"/>
            </a:solidFill>
            <a:prstDash val="solid"/>
          </a:ln>
          <a:effectLst>
            <a:outerShdw sx="100000" sy="100000" kx="0" ky="0" algn="bl" rotWithShape="0" blurRad="101600" dist="38100" dir="5400000">
              <a:srgbClr val="9BB3B8">
                <a:alpha val="3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482264" y="1956816"/>
            <a:ext cx="2384984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3323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年均消耗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3482264" y="2322576"/>
            <a:ext cx="2384984" cy="53035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1C729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≈ +0.12 D</a:t>
            </a:r>
            <a:endParaRPr lang="en-US" sz="2100" dirty="0"/>
          </a:p>
        </p:txBody>
      </p:sp>
      <p:sp>
        <p:nvSpPr>
          <p:cNvPr id="12" name="Text 10"/>
          <p:cNvSpPr/>
          <p:nvPr/>
        </p:nvSpPr>
        <p:spPr>
          <a:xfrm>
            <a:off x="3463976" y="2889504"/>
            <a:ext cx="2421560" cy="71323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5E707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约 12 度/年</a:t>
            </a:r>
            <a:endParaRPr lang="en-US" sz="105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5E707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（另一参考 ≈25 度 / +0.25 D）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233008" y="1828800"/>
            <a:ext cx="2567864" cy="1874520"/>
          </a:xfrm>
          <a:prstGeom prst="roundRect">
            <a:avLst>
              <a:gd name="adj" fmla="val 4390"/>
            </a:avLst>
          </a:prstGeom>
          <a:solidFill>
            <a:srgbClr val="F1F6F7"/>
          </a:solidFill>
          <a:ln w="12700">
            <a:solidFill>
              <a:srgbClr val="D7E2E4"/>
            </a:solidFill>
            <a:prstDash val="solid"/>
          </a:ln>
          <a:effectLst>
            <a:outerShdw sx="100000" sy="100000" kx="0" ky="0" algn="bl" rotWithShape="0" blurRad="101600" dist="38100" dir="5400000">
              <a:srgbClr val="9BB3B8">
                <a:alpha val="3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324448" y="1956816"/>
            <a:ext cx="2384984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3323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8–9 岁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324448" y="2322576"/>
            <a:ext cx="2384984" cy="53035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1C729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消耗高峰</a:t>
            </a:r>
            <a:endParaRPr lang="en-US" sz="2100" dirty="0"/>
          </a:p>
        </p:txBody>
      </p:sp>
      <p:sp>
        <p:nvSpPr>
          <p:cNvPr id="16" name="Text 14"/>
          <p:cNvSpPr/>
          <p:nvPr/>
        </p:nvSpPr>
        <p:spPr>
          <a:xfrm>
            <a:off x="6306160" y="2889504"/>
            <a:ext cx="2421560" cy="71323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5E707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≈ 37 度/年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9075191" y="1828800"/>
            <a:ext cx="2567864" cy="1874520"/>
          </a:xfrm>
          <a:prstGeom prst="roundRect">
            <a:avLst>
              <a:gd name="adj" fmla="val 4390"/>
            </a:avLst>
          </a:prstGeom>
          <a:solidFill>
            <a:srgbClr val="F1F6F7"/>
          </a:solidFill>
          <a:ln w="12700">
            <a:solidFill>
              <a:srgbClr val="D7E2E4"/>
            </a:solidFill>
            <a:prstDash val="solid"/>
          </a:ln>
          <a:effectLst>
            <a:outerShdw sx="100000" sy="100000" kx="0" ky="0" algn="bl" rotWithShape="0" blurRad="101600" dist="38100" dir="5400000">
              <a:srgbClr val="9BB3B8">
                <a:alpha val="3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9166631" y="1956816"/>
            <a:ext cx="2384984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3323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15 岁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9166631" y="2322576"/>
            <a:ext cx="2384984" cy="53035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1C729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≈ +0.31 D</a:t>
            </a:r>
            <a:endParaRPr lang="en-US" sz="2100" dirty="0"/>
          </a:p>
        </p:txBody>
      </p:sp>
      <p:sp>
        <p:nvSpPr>
          <p:cNvPr id="20" name="Text 18"/>
          <p:cNvSpPr/>
          <p:nvPr/>
        </p:nvSpPr>
        <p:spPr>
          <a:xfrm>
            <a:off x="9148343" y="2889504"/>
            <a:ext cx="2421560" cy="71323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5E707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约 31 度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548640" y="3767328"/>
            <a:ext cx="11094415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i="1" dirty="0">
                <a:solidFill>
                  <a:srgbClr val="5E707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注：两组远视储备参考值分别见于指南不同章节，此处一并列出。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548640" y="4114800"/>
            <a:ext cx="11094415" cy="960120"/>
          </a:xfrm>
          <a:prstGeom prst="roundRect">
            <a:avLst>
              <a:gd name="adj" fmla="val 8571"/>
            </a:avLst>
          </a:prstGeom>
          <a:solidFill>
            <a:srgbClr val="EAF5F1"/>
          </a:solidFill>
          <a:ln w="12700">
            <a:solidFill>
              <a:srgbClr val="D7E2E4"/>
            </a:solidFill>
            <a:prstDash val="solid"/>
          </a:ln>
          <a:effectLst>
            <a:outerShdw sx="100000" sy="100000" kx="0" ky="0" algn="bl" rotWithShape="0" blurRad="101600" dist="38100" dir="5400000">
              <a:srgbClr val="9BB3B8">
                <a:alpha val="35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822960" y="4114800"/>
            <a:ext cx="10545775" cy="9601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3323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关键：不盲目追求高远视储备，重在减缓消耗速度（户外、课间休息、良好用眼习惯）。储备超上限警惕远视/弱视。</a:t>
            </a:r>
            <a:endParaRPr lang="en-US" sz="1350" dirty="0"/>
          </a:p>
        </p:txBody>
      </p:sp>
      <p:sp>
        <p:nvSpPr>
          <p:cNvPr id="24" name="Shape 22"/>
          <p:cNvSpPr/>
          <p:nvPr/>
        </p:nvSpPr>
        <p:spPr>
          <a:xfrm>
            <a:off x="548640" y="5212080"/>
            <a:ext cx="11094415" cy="8229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7E2E4"/>
            </a:solidFill>
            <a:prstDash val="solid"/>
          </a:ln>
          <a:effectLst>
            <a:outerShdw sx="100000" sy="100000" kx="0" ky="0" algn="bl" rotWithShape="0" blurRad="101600" dist="38100" dir="5400000">
              <a:srgbClr val="9BB3B8">
                <a:alpha val="35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822960" y="5212080"/>
            <a:ext cx="2194560" cy="8229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C729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视功能检查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3200400" y="5212080"/>
            <a:ext cx="7315200" cy="8229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3323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调节幅度、调节灵活度等。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11430000" y="6419088"/>
            <a:ext cx="576072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1100" dirty="0">
                <a:solidFill>
                  <a:srgbClr val="5E707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15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11094415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A9D8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PART 04 · 矫正与控制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48640"/>
            <a:ext cx="11094415" cy="6858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3323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框架眼镜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5394960" cy="4480560"/>
          </a:xfrm>
          <a:prstGeom prst="roundRect">
            <a:avLst>
              <a:gd name="adj" fmla="val 1837"/>
            </a:avLst>
          </a:prstGeom>
          <a:solidFill>
            <a:srgbClr val="F1F6F7"/>
          </a:solidFill>
          <a:ln w="12700">
            <a:solidFill>
              <a:srgbClr val="D7E2E4"/>
            </a:solidFill>
            <a:prstDash val="solid"/>
          </a:ln>
          <a:effectLst>
            <a:outerShdw sx="100000" sy="100000" kx="0" ky="0" algn="bl" rotWithShape="0" blurRad="101600" dist="38100" dir="5400000">
              <a:srgbClr val="9BB3B8">
                <a:alpha val="3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04672" y="173736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C729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单焦框架眼镜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804672" y="2194560"/>
            <a:ext cx="4892040" cy="36576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3323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临床最常见类型，最简单、安全的矫正器具。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3323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近视患儿至少每半年复查一次。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b="1" dirty="0">
                <a:solidFill>
                  <a:srgbClr val="C34A3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避免过矫——过矫可诱发调节过度、加速近视发展。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309360" y="1554480"/>
            <a:ext cx="5330952" cy="4480560"/>
          </a:xfrm>
          <a:prstGeom prst="roundRect">
            <a:avLst>
              <a:gd name="adj" fmla="val 1837"/>
            </a:avLst>
          </a:prstGeom>
          <a:solidFill>
            <a:srgbClr val="EAF5F1"/>
          </a:solidFill>
          <a:ln w="12700">
            <a:solidFill>
              <a:srgbClr val="D7E2E4"/>
            </a:solidFill>
            <a:prstDash val="solid"/>
          </a:ln>
          <a:effectLst>
            <a:outerShdw sx="100000" sy="100000" kx="0" ky="0" algn="bl" rotWithShape="0" blurRad="101600" dist="38100" dir="5400000">
              <a:srgbClr val="9BB3B8">
                <a:alpha val="3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565392" y="173736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2A9D8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特殊光学设计（如周边离焦）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6565392" y="2212848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5E707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适用人群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565392" y="2487168"/>
            <a:ext cx="4892040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3323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进展性近视的儿童青少年；有强烈近视防控需求的屈光不正者。目前无绝对年龄限制。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6565392" y="3520440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C34A3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主要禁忌证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565392" y="3794760"/>
            <a:ext cx="4892040" cy="201168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3323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显性斜视或间歇性外斜视、双眼视功能异常、无法耐受屈光参差的框架配戴、弱视、矫正视力不佳等。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11430000" y="6419088"/>
            <a:ext cx="576072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1100" dirty="0">
                <a:solidFill>
                  <a:srgbClr val="5E707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16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11094415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A9D8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PART 04 · 矫正与控制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48640"/>
            <a:ext cx="11094415" cy="6858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3323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角膜接触镜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81328"/>
            <a:ext cx="11094415" cy="1417320"/>
          </a:xfrm>
          <a:prstGeom prst="roundRect">
            <a:avLst>
              <a:gd name="adj" fmla="val 5806"/>
            </a:avLst>
          </a:prstGeom>
          <a:solidFill>
            <a:srgbClr val="F1F6F7"/>
          </a:solidFill>
          <a:ln w="12700">
            <a:solidFill>
              <a:srgbClr val="D7E2E4"/>
            </a:solidFill>
            <a:prstDash val="solid"/>
          </a:ln>
          <a:effectLst>
            <a:outerShdw sx="100000" sy="100000" kx="0" ky="0" algn="bl" rotWithShape="0" blurRad="101600" dist="38100" dir="5400000">
              <a:srgbClr val="9BB3B8">
                <a:alpha val="3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22960" y="1609344"/>
            <a:ext cx="3017520" cy="11887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2A9D8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软性接触镜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4023360" y="1591056"/>
            <a:ext cx="7345375" cy="12070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3323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可矫正近视，部分可恢复双眼视功能、促进视觉发育；多焦软镜可一定程度延缓进展。以控近为目的者需排除其他眼部/全身禁忌，自理欠佳者由家长协助护理并定期复查。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3008376"/>
            <a:ext cx="11094415" cy="1417320"/>
          </a:xfrm>
          <a:prstGeom prst="roundRect">
            <a:avLst>
              <a:gd name="adj" fmla="val 5806"/>
            </a:avLst>
          </a:prstGeom>
          <a:solidFill>
            <a:srgbClr val="F1F6F7"/>
          </a:solidFill>
          <a:ln w="12700">
            <a:solidFill>
              <a:srgbClr val="D7E2E4"/>
            </a:solidFill>
            <a:prstDash val="solid"/>
          </a:ln>
          <a:effectLst>
            <a:outerShdw sx="100000" sy="100000" kx="0" ky="0" algn="bl" rotWithShape="0" blurRad="101600" dist="38100" dir="5400000">
              <a:srgbClr val="9BB3B8">
                <a:alpha val="3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22960" y="3136392"/>
            <a:ext cx="3017520" cy="11887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C729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硬性透气性接触镜 RGP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4023360" y="3118104"/>
            <a:ext cx="7345375" cy="12070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3323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适用近视、远视、散光及屈光参差；特别推荐圆锥角膜、角膜瘢痕所致不规则散光。综合年龄、适应证、依从性与护理能力审慎评估。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48640" y="4535424"/>
            <a:ext cx="11094415" cy="1417320"/>
          </a:xfrm>
          <a:prstGeom prst="roundRect">
            <a:avLst>
              <a:gd name="adj" fmla="val 5806"/>
            </a:avLst>
          </a:prstGeom>
          <a:solidFill>
            <a:srgbClr val="F1F6F7"/>
          </a:solidFill>
          <a:ln w="12700">
            <a:solidFill>
              <a:srgbClr val="D7E2E4"/>
            </a:solidFill>
            <a:prstDash val="solid"/>
          </a:ln>
          <a:effectLst>
            <a:outerShdw sx="100000" sy="100000" kx="0" ky="0" algn="bl" rotWithShape="0" blurRad="101600" dist="38100" dir="5400000">
              <a:srgbClr val="9BB3B8">
                <a:alpha val="3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822960" y="4663440"/>
            <a:ext cx="3017520" cy="11887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E4A11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角膜塑形镜 OK 镜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4023360" y="4645152"/>
            <a:ext cx="7345375" cy="12070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3323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逆几何设计 RGP，暂时性降低近视度数，属非手术物理矫正，可有效延缓眼轴增长。适用 8 岁及以上；须严格随访、监护人配合、规范护理，预防感染，不适立即就诊。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1430000" y="6419088"/>
            <a:ext cx="576072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1100" dirty="0">
                <a:solidFill>
                  <a:srgbClr val="5E707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17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11094415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A9D8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PART 04 · 矫正与控制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48640"/>
            <a:ext cx="11094415" cy="6858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3323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药物、中医与随访管理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81328"/>
            <a:ext cx="7040880" cy="3063240"/>
          </a:xfrm>
          <a:prstGeom prst="roundRect">
            <a:avLst>
              <a:gd name="adj" fmla="val 2687"/>
            </a:avLst>
          </a:prstGeom>
          <a:solidFill>
            <a:srgbClr val="F1F6F7"/>
          </a:solidFill>
          <a:ln w="12700">
            <a:solidFill>
              <a:srgbClr val="D7E2E4"/>
            </a:solidFill>
            <a:prstDash val="solid"/>
          </a:ln>
          <a:effectLst>
            <a:outerShdw sx="100000" sy="100000" kx="0" ky="0" algn="bl" rotWithShape="0" blurRad="101600" dist="38100" dir="5400000">
              <a:srgbClr val="9BB3B8">
                <a:alpha val="3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04672" y="1627632"/>
            <a:ext cx="658368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C729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低浓度阿托品滴眼液（处方药，唯一循证有效延缓进展药物）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04672" y="2011680"/>
            <a:ext cx="6629400" cy="246888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3323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适用：6–12 岁、100–400 度、散光 ≤150 度、屈光参差 ≤150 度。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3323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眼科医师指导下个体化；每 3–6 个月复查屈光度、眼轴、瞳孔、调节及不良反应。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3323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停药/减量警惕反弹；年进展 ≥50 度可重启或联合。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3323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进展迅速（≥75 度/年 或 眼轴 ≥0.40 mm/年）可与光学矫正联合。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7772400" y="1481328"/>
            <a:ext cx="3867912" cy="3063240"/>
          </a:xfrm>
          <a:prstGeom prst="roundRect">
            <a:avLst>
              <a:gd name="adj" fmla="val 2687"/>
            </a:avLst>
          </a:prstGeom>
          <a:solidFill>
            <a:srgbClr val="FFFFFF"/>
          </a:solidFill>
          <a:ln w="12700">
            <a:solidFill>
              <a:srgbClr val="D7E2E4"/>
            </a:solidFill>
            <a:prstDash val="solid"/>
          </a:ln>
          <a:effectLst>
            <a:outerShdw sx="100000" sy="100000" kx="0" ky="0" algn="bl" rotWithShape="0" blurRad="101600" dist="38100" dir="5400000">
              <a:srgbClr val="9BB3B8">
                <a:alpha val="3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001000" y="1627632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2A9D8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中医防控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8001000" y="2011680"/>
            <a:ext cx="3429000" cy="246888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3323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眼保健操可改善调节功能、缓解视疲劳，有助延缓发生发展；需专业指导下取穴准确、手法得当、长期坚持。亦可用中医穴位电刺激等外治法。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48640" y="4709160"/>
            <a:ext cx="11094415" cy="1234440"/>
          </a:xfrm>
          <a:prstGeom prst="roundRect">
            <a:avLst>
              <a:gd name="adj" fmla="val 6667"/>
            </a:avLst>
          </a:prstGeom>
          <a:solidFill>
            <a:srgbClr val="EAF5F1"/>
          </a:solidFill>
          <a:ln w="12700">
            <a:solidFill>
              <a:srgbClr val="D7E2E4"/>
            </a:solidFill>
            <a:prstDash val="solid"/>
          </a:ln>
          <a:effectLst>
            <a:outerShdw sx="100000" sy="100000" kx="0" ky="0" algn="bl" rotWithShape="0" blurRad="101600" dist="38100" dir="5400000">
              <a:srgbClr val="9BB3B8">
                <a:alpha val="3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822960" y="484632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2A9D8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随访管理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822960" y="5212080"/>
            <a:ext cx="10545775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3323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建议每半年随访评估控制效果。控制良好标准：眼轴增长 ≤0.20 mm/年 或 屈光年进展 ≤50 度/年；欠佳者需查因并针对性调整方案。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11430000" y="6419088"/>
            <a:ext cx="576072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1100" dirty="0">
                <a:solidFill>
                  <a:srgbClr val="5E707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18</a:t>
            </a:r>
            <a:endParaRPr lang="en-US" sz="11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11094415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A9D8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PART 05 · 病理性近视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48640"/>
            <a:ext cx="11094415" cy="6858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3323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并发症的治疗措施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1094415" cy="6858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5E707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眼轴持续增长、后巩膜葡萄肿进展，继发漆裂纹、CNV、黄斑萎缩/劈裂/裂孔、视网膜下出血、变性及孔源性视网膜脱离，并增加青光眼、白内障、斜视风险。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2194560"/>
            <a:ext cx="11094415" cy="1170432"/>
          </a:xfrm>
          <a:prstGeom prst="roundRect">
            <a:avLst>
              <a:gd name="adj" fmla="val 7031"/>
            </a:avLst>
          </a:prstGeom>
          <a:solidFill>
            <a:srgbClr val="F1F6F7"/>
          </a:solidFill>
          <a:ln w="12700">
            <a:solidFill>
              <a:srgbClr val="D7E2E4"/>
            </a:solidFill>
            <a:prstDash val="solid"/>
          </a:ln>
          <a:effectLst>
            <a:outerShdw sx="100000" sy="100000" kx="0" ky="0" algn="bl" rotWithShape="0" blurRad="101600" dist="38100" dir="5400000">
              <a:srgbClr val="9BB3B8">
                <a:alpha val="3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22960" y="2194560"/>
            <a:ext cx="2651760" cy="11704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2A9D8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激光光凝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3566160" y="2286000"/>
            <a:ext cx="7802575" cy="98755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3323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周边视网膜裂孔、变性和/或玻璃体牵引 → 预防性视网膜激光，降低视网膜脱离风险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3474720"/>
            <a:ext cx="11094415" cy="1170432"/>
          </a:xfrm>
          <a:prstGeom prst="roundRect">
            <a:avLst>
              <a:gd name="adj" fmla="val 7031"/>
            </a:avLst>
          </a:prstGeom>
          <a:solidFill>
            <a:srgbClr val="F1F6F7"/>
          </a:solidFill>
          <a:ln w="12700">
            <a:solidFill>
              <a:srgbClr val="D7E2E4"/>
            </a:solidFill>
            <a:prstDash val="solid"/>
          </a:ln>
          <a:effectLst>
            <a:outerShdw sx="100000" sy="100000" kx="0" ky="0" algn="bl" rotWithShape="0" blurRad="101600" dist="38100" dir="5400000">
              <a:srgbClr val="9BB3B8">
                <a:alpha val="3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822960" y="3474720"/>
            <a:ext cx="2651760" cy="11704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C729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抗 VEGF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3566160" y="3566160"/>
            <a:ext cx="7802575" cy="98755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3323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病理性近视继发黄斑下脉络膜新生血管（CNV）→ 玻璃体腔注射抗 VEGF，有效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48640" y="4754880"/>
            <a:ext cx="11094415" cy="1170432"/>
          </a:xfrm>
          <a:prstGeom prst="roundRect">
            <a:avLst>
              <a:gd name="adj" fmla="val 7031"/>
            </a:avLst>
          </a:prstGeom>
          <a:solidFill>
            <a:srgbClr val="FBF1EF"/>
          </a:solidFill>
          <a:ln w="12700">
            <a:solidFill>
              <a:srgbClr val="D7E2E4"/>
            </a:solidFill>
            <a:prstDash val="solid"/>
          </a:ln>
          <a:effectLst>
            <a:outerShdw sx="100000" sy="100000" kx="0" ky="0" algn="bl" rotWithShape="0" blurRad="101600" dist="38100" dir="5400000">
              <a:srgbClr val="9BB3B8">
                <a:alpha val="3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822960" y="4754880"/>
            <a:ext cx="2651760" cy="11704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C34A3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手术治疗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3566160" y="4846320"/>
            <a:ext cx="7802575" cy="98755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3323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后巩膜加固术（PSR，证据等级有限、非常规推荐，严格掌握适应证）；巩膜扣带术；玻璃体手术（复杂 RD、黄斑裂孔性 RD 等）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1430000" y="6419088"/>
            <a:ext cx="576072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1100" dirty="0">
                <a:solidFill>
                  <a:srgbClr val="5E707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19</a:t>
            </a:r>
            <a:endParaRPr lang="en-US" sz="11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11094415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A9D8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PART 06 · 成人近视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48640"/>
            <a:ext cx="11094415" cy="6858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3323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成人手术矫正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81328"/>
            <a:ext cx="11094415" cy="1051560"/>
          </a:xfrm>
          <a:prstGeom prst="roundRect">
            <a:avLst>
              <a:gd name="adj" fmla="val 7826"/>
            </a:avLst>
          </a:prstGeom>
          <a:solidFill>
            <a:srgbClr val="FBF1EF"/>
          </a:solidFill>
          <a:ln w="12700">
            <a:solidFill>
              <a:srgbClr val="D7E2E4"/>
            </a:solidFill>
            <a:prstDash val="solid"/>
          </a:ln>
          <a:effectLst>
            <a:outerShdw sx="100000" sy="100000" kx="0" ky="0" algn="bl" rotWithShape="0" blurRad="101600" dist="38100" dir="5400000">
              <a:srgbClr val="9BB3B8">
                <a:alpha val="3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22960" y="1481328"/>
            <a:ext cx="1463040" cy="10515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C34A3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原则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2377440" y="1481328"/>
            <a:ext cx="8991295" cy="10515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3323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主要适用 18 岁以上、屈光稳定人群（≥2 年、每年变化 ≤50 度）。手术仅矫正屈光度，未治愈近视——术后仍需重视用眼卫生并定期监测眼底。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548640" y="2697480"/>
            <a:ext cx="5394960" cy="3337560"/>
          </a:xfrm>
          <a:prstGeom prst="roundRect">
            <a:avLst>
              <a:gd name="adj" fmla="val 2466"/>
            </a:avLst>
          </a:prstGeom>
          <a:solidFill>
            <a:srgbClr val="F1F6F7"/>
          </a:solidFill>
          <a:ln w="12700">
            <a:solidFill>
              <a:srgbClr val="D7E2E4"/>
            </a:solidFill>
            <a:prstDash val="solid"/>
          </a:ln>
          <a:effectLst>
            <a:outerShdw sx="100000" sy="100000" kx="0" ky="0" algn="bl" rotWithShape="0" blurRad="101600" dist="38100" dir="5400000">
              <a:srgbClr val="9BB3B8">
                <a:alpha val="3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04672" y="2852928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C729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激光角膜屈光手术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04672" y="3255264"/>
            <a:ext cx="4892040" cy="265176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3323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板层手术：LASIK / FS-LASIK（制作角膜瓣）、SMILE（飞秒微小切口透镜取出）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3323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表层手术：PRK（准分子激光屈光性角膜切削）</a:t>
            </a:r>
            <a:endParaRPr lang="en-US" sz="1350" dirty="0"/>
          </a:p>
          <a:p>
            <a:pPr marL="342900" indent="-342900">
              <a:buSzPct val="100000"/>
              <a:buChar char="•"/>
            </a:pPr>
            <a:r>
              <a:rPr lang="en-US" sz="1350" dirty="0">
                <a:solidFill>
                  <a:srgbClr val="5E707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需符合角膜厚度/形态、屈光度及切削深度等标准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309360" y="2697480"/>
            <a:ext cx="5330952" cy="3337560"/>
          </a:xfrm>
          <a:prstGeom prst="roundRect">
            <a:avLst>
              <a:gd name="adj" fmla="val 2466"/>
            </a:avLst>
          </a:prstGeom>
          <a:solidFill>
            <a:srgbClr val="FFFFFF"/>
          </a:solidFill>
          <a:ln w="12700">
            <a:solidFill>
              <a:srgbClr val="D7E2E4"/>
            </a:solidFill>
            <a:prstDash val="solid"/>
          </a:ln>
          <a:effectLst>
            <a:outerShdw sx="100000" sy="100000" kx="0" ky="0" algn="bl" rotWithShape="0" blurRad="101600" dist="38100" dir="5400000">
              <a:srgbClr val="9BB3B8">
                <a:alpha val="3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565392" y="2852928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2A9D8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有晶状体眼人工晶状体植入（ICL）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565392" y="3291840"/>
            <a:ext cx="4892040" cy="25603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3323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适用于近视度数较高、不愿配戴框架镜、但角膜条件不适合激光手术且符合适应证者。保留自然晶状体，于后房植入负度数人工晶状体矫正近视。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11430000" y="6419088"/>
            <a:ext cx="576072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1100" dirty="0">
                <a:solidFill>
                  <a:srgbClr val="5E707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20</a:t>
            </a:r>
            <a:endParaRPr lang="en-US" sz="11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C3A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515600" y="-2011680"/>
            <a:ext cx="3291840" cy="3291840"/>
          </a:xfrm>
          <a:prstGeom prst="ellipse">
            <a:avLst/>
          </a:prstGeom>
          <a:solidFill>
            <a:srgbClr val="0F434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0292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A9D8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要点回顾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86868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核心要点速记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5364328" cy="1207008"/>
          </a:xfrm>
          <a:prstGeom prst="roundRect">
            <a:avLst>
              <a:gd name="adj" fmla="val 6061"/>
            </a:avLst>
          </a:prstGeom>
          <a:solidFill>
            <a:srgbClr val="10454F"/>
          </a:solidFill>
          <a:ln w="12700">
            <a:solidFill>
              <a:srgbClr val="1E5A6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77240" y="2057400"/>
            <a:ext cx="658368" cy="658368"/>
          </a:xfrm>
          <a:prstGeom prst="ellipse">
            <a:avLst/>
          </a:prstGeom>
          <a:solidFill>
            <a:srgbClr val="2A9D8F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2057400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600200" y="1929384"/>
            <a:ext cx="4175608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E4A11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早筛早建档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600200" y="2313432"/>
            <a:ext cx="4129888" cy="5943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D8E8E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24 月龄起屈光筛查，建立屈光发育档案，分档管理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278728" y="1783080"/>
            <a:ext cx="5364328" cy="1207008"/>
          </a:xfrm>
          <a:prstGeom prst="roundRect">
            <a:avLst>
              <a:gd name="adj" fmla="val 6061"/>
            </a:avLst>
          </a:prstGeom>
          <a:solidFill>
            <a:srgbClr val="10454F"/>
          </a:solidFill>
          <a:ln w="12700">
            <a:solidFill>
              <a:srgbClr val="1E5A6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507328" y="2057400"/>
            <a:ext cx="658368" cy="658368"/>
          </a:xfrm>
          <a:prstGeom prst="ellipse">
            <a:avLst/>
          </a:prstGeom>
          <a:solidFill>
            <a:srgbClr val="2A9D8F"/>
          </a:solidFill>
          <a:ln/>
        </p:spPr>
      </p:sp>
      <p:sp>
        <p:nvSpPr>
          <p:cNvPr id="12" name="Text 10"/>
          <p:cNvSpPr/>
          <p:nvPr/>
        </p:nvSpPr>
        <p:spPr>
          <a:xfrm>
            <a:off x="6507328" y="2057400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7330288" y="1929384"/>
            <a:ext cx="4175608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E4A11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分期防控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7330288" y="2313432"/>
            <a:ext cx="4129888" cy="5943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D8E8E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前驱→发展→高度→病理；发展期年进展&gt;50度或眼轴&gt;0.20mm/年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548640" y="3154680"/>
            <a:ext cx="5364328" cy="1207008"/>
          </a:xfrm>
          <a:prstGeom prst="roundRect">
            <a:avLst>
              <a:gd name="adj" fmla="val 6061"/>
            </a:avLst>
          </a:prstGeom>
          <a:solidFill>
            <a:srgbClr val="10454F"/>
          </a:solidFill>
          <a:ln w="12700">
            <a:solidFill>
              <a:srgbClr val="1E5A6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77240" y="3429000"/>
            <a:ext cx="658368" cy="658368"/>
          </a:xfrm>
          <a:prstGeom prst="ellipse">
            <a:avLst/>
          </a:prstGeom>
          <a:solidFill>
            <a:srgbClr val="2A9D8F"/>
          </a:solidFill>
          <a:ln/>
        </p:spPr>
      </p:sp>
      <p:sp>
        <p:nvSpPr>
          <p:cNvPr id="17" name="Text 15"/>
          <p:cNvSpPr/>
          <p:nvPr/>
        </p:nvSpPr>
        <p:spPr>
          <a:xfrm>
            <a:off x="777240" y="3429000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3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600200" y="3300984"/>
            <a:ext cx="4175608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E4A11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保护远视储备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600200" y="3685032"/>
            <a:ext cx="4129888" cy="5943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D8E8E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重在减缓消耗：户外 3h/2h、控近距离、良好用眼习惯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6278728" y="3154680"/>
            <a:ext cx="5364328" cy="1207008"/>
          </a:xfrm>
          <a:prstGeom prst="roundRect">
            <a:avLst>
              <a:gd name="adj" fmla="val 6061"/>
            </a:avLst>
          </a:prstGeom>
          <a:solidFill>
            <a:srgbClr val="10454F"/>
          </a:solidFill>
          <a:ln w="12700">
            <a:solidFill>
              <a:srgbClr val="1E5A6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507328" y="3429000"/>
            <a:ext cx="658368" cy="658368"/>
          </a:xfrm>
          <a:prstGeom prst="ellipse">
            <a:avLst/>
          </a:prstGeom>
          <a:solidFill>
            <a:srgbClr val="2A9D8F"/>
          </a:solidFill>
          <a:ln/>
        </p:spPr>
      </p:sp>
      <p:sp>
        <p:nvSpPr>
          <p:cNvPr id="22" name="Text 20"/>
          <p:cNvSpPr/>
          <p:nvPr/>
        </p:nvSpPr>
        <p:spPr>
          <a:xfrm>
            <a:off x="6507328" y="3429000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4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7330288" y="3300984"/>
            <a:ext cx="4175608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E4A11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金标准验光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7330288" y="3685032"/>
            <a:ext cx="4129888" cy="5943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D8E8E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睫状肌麻痹验光；按年龄选阿托品/环喷托酯/托吡卡胺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548640" y="4526280"/>
            <a:ext cx="5364328" cy="1207008"/>
          </a:xfrm>
          <a:prstGeom prst="roundRect">
            <a:avLst>
              <a:gd name="adj" fmla="val 6061"/>
            </a:avLst>
          </a:prstGeom>
          <a:solidFill>
            <a:srgbClr val="10454F"/>
          </a:solidFill>
          <a:ln w="12700">
            <a:solidFill>
              <a:srgbClr val="1E5A66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77240" y="4800600"/>
            <a:ext cx="658368" cy="658368"/>
          </a:xfrm>
          <a:prstGeom prst="ellipse">
            <a:avLst/>
          </a:prstGeom>
          <a:solidFill>
            <a:srgbClr val="2A9D8F"/>
          </a:solidFill>
          <a:ln/>
        </p:spPr>
      </p:sp>
      <p:sp>
        <p:nvSpPr>
          <p:cNvPr id="27" name="Text 25"/>
          <p:cNvSpPr/>
          <p:nvPr/>
        </p:nvSpPr>
        <p:spPr>
          <a:xfrm>
            <a:off x="777240" y="4800600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5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1600200" y="4672584"/>
            <a:ext cx="4175608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E4A11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三大控制手段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1600200" y="5056632"/>
            <a:ext cx="4129888" cy="5943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D8E8E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特殊光学设计镜、OK镜（≥8岁）、低浓度阿托品（6–12岁）</a:t>
            </a:r>
            <a:endParaRPr lang="en-US" sz="1250" dirty="0"/>
          </a:p>
        </p:txBody>
      </p:sp>
      <p:sp>
        <p:nvSpPr>
          <p:cNvPr id="30" name="Shape 28"/>
          <p:cNvSpPr/>
          <p:nvPr/>
        </p:nvSpPr>
        <p:spPr>
          <a:xfrm>
            <a:off x="6278728" y="4526280"/>
            <a:ext cx="5364328" cy="1207008"/>
          </a:xfrm>
          <a:prstGeom prst="roundRect">
            <a:avLst>
              <a:gd name="adj" fmla="val 6061"/>
            </a:avLst>
          </a:prstGeom>
          <a:solidFill>
            <a:srgbClr val="10454F"/>
          </a:solidFill>
          <a:ln w="12700">
            <a:solidFill>
              <a:srgbClr val="1E5A66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507328" y="4800600"/>
            <a:ext cx="658368" cy="658368"/>
          </a:xfrm>
          <a:prstGeom prst="ellipse">
            <a:avLst/>
          </a:prstGeom>
          <a:solidFill>
            <a:srgbClr val="2A9D8F"/>
          </a:solidFill>
          <a:ln/>
        </p:spPr>
      </p:sp>
      <p:sp>
        <p:nvSpPr>
          <p:cNvPr id="32" name="Text 30"/>
          <p:cNvSpPr/>
          <p:nvPr/>
        </p:nvSpPr>
        <p:spPr>
          <a:xfrm>
            <a:off x="6507328" y="4800600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6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7330288" y="4672584"/>
            <a:ext cx="4175608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E4A11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随访标准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7330288" y="5056632"/>
            <a:ext cx="4129888" cy="5943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D8E8E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每半年；控制良好=眼轴≤0.20mm/年 或 度数≤50度/年</a:t>
            </a:r>
            <a:endParaRPr lang="en-US" sz="1250" dirty="0"/>
          </a:p>
        </p:txBody>
      </p:sp>
      <p:sp>
        <p:nvSpPr>
          <p:cNvPr id="35" name="Text 33"/>
          <p:cNvSpPr/>
          <p:nvPr/>
        </p:nvSpPr>
        <p:spPr>
          <a:xfrm>
            <a:off x="548640" y="6446520"/>
            <a:ext cx="950976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86A6A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资料来源：《近视防治指南（2026 年版）》· 国家卫生健康委员会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11430000" y="6419088"/>
            <a:ext cx="576072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1100" dirty="0">
                <a:solidFill>
                  <a:srgbClr val="9BBFC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21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2026-08-26T01:54:18Z</dcterms:created>
  <dcterms:modified xsi:type="dcterms:W3CDTF">2026-08-26T01:54:18Z</dcterms:modified>
</cp:coreProperties>
</file>